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9" r:id="rId14"/>
    <p:sldId id="270" r:id="rId15"/>
    <p:sldId id="271" r:id="rId16"/>
    <p:sldId id="272" r:id="rId17"/>
  </p:sldIdLst>
  <p:sldSz cx="9144000" cy="5143500" type="screen16x9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66" d="100"/>
          <a:sy n="66" d="100"/>
        </p:scale>
        <p:origin x="-72" y="-73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1597820"/>
            <a:ext cx="7772400" cy="1102519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970B4-A3AF-4720-A0F0-0CEEFEBA19DD}" type="datetimeFigureOut">
              <a:rPr lang="ru-RU" smtClean="0"/>
              <a:t>06.08.2025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03442-8E7A-4816-91DB-A4FC11F780F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098283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970B4-A3AF-4720-A0F0-0CEEFEBA19DD}" type="datetimeFigureOut">
              <a:rPr lang="ru-RU" smtClean="0"/>
              <a:t>06.08.2025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03442-8E7A-4816-91DB-A4FC11F780F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823856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970B4-A3AF-4720-A0F0-0CEEFEBA19DD}" type="datetimeFigureOut">
              <a:rPr lang="ru-RU" smtClean="0"/>
              <a:t>06.08.2025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03442-8E7A-4816-91DB-A4FC11F780F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782272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970B4-A3AF-4720-A0F0-0CEEFEBA19DD}" type="datetimeFigureOut">
              <a:rPr lang="ru-RU" smtClean="0"/>
              <a:t>06.08.2025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03442-8E7A-4816-91DB-A4FC11F780F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594037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8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45028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970B4-A3AF-4720-A0F0-0CEEFEBA19DD}" type="datetimeFigureOut">
              <a:rPr lang="ru-RU" smtClean="0"/>
              <a:t>06.08.2025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03442-8E7A-4816-91DB-A4FC11F780F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03995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970B4-A3AF-4720-A0F0-0CEEFEBA19DD}" type="datetimeFigureOut">
              <a:rPr lang="ru-RU" smtClean="0"/>
              <a:t>06.08.2025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03442-8E7A-4816-91DB-A4FC11F780F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175268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970B4-A3AF-4720-A0F0-0CEEFEBA19DD}" type="datetimeFigureOut">
              <a:rPr lang="ru-RU" smtClean="0"/>
              <a:t>06.08.2025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03442-8E7A-4816-91DB-A4FC11F780F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579417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3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575050" y="204789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3" y="1076327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970B4-A3AF-4720-A0F0-0CEEFEBA19DD}" type="datetimeFigureOut">
              <a:rPr lang="ru-RU" smtClean="0"/>
              <a:t>06.08.2025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03442-8E7A-4816-91DB-A4FC11F780F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142543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4025504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970B4-A3AF-4720-A0F0-0CEEFEBA19DD}" type="datetimeFigureOut">
              <a:rPr lang="ru-RU" smtClean="0"/>
              <a:t>06.08.2025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03442-8E7A-4816-91DB-A4FC11F780F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40696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970B4-A3AF-4720-A0F0-0CEEFEBA19DD}" type="datetimeFigureOut">
              <a:rPr lang="ru-RU" smtClean="0"/>
              <a:t>06.08.2025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03442-8E7A-4816-91DB-A4FC11F780F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74279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05980"/>
            <a:ext cx="2057400" cy="4388644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05980"/>
            <a:ext cx="6019800" cy="4388644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970B4-A3AF-4720-A0F0-0CEEFEBA19DD}" type="datetimeFigureOut">
              <a:rPr lang="ru-RU" smtClean="0"/>
              <a:t>06.08.2025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03442-8E7A-4816-91DB-A4FC11F780F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107492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A970B4-A3AF-4720-A0F0-0CEEFEBA19DD}" type="datetimeFigureOut">
              <a:rPr lang="ru-RU" smtClean="0"/>
              <a:t>06.08.2025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003442-8E7A-4816-91DB-A4FC11F780F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893288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251520" y="123478"/>
            <a:ext cx="8712968" cy="1368152"/>
          </a:xfrm>
        </p:spPr>
        <p:txBody>
          <a:bodyPr>
            <a:noAutofit/>
          </a:bodyPr>
          <a:lstStyle/>
          <a:p>
            <a:r>
              <a:rPr lang="ru-RU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Обработка естественного языка (NLP) на примере классификации отзывов клиники</a:t>
            </a:r>
            <a:endParaRPr lang="ru-RU" sz="3600" b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0" y="3651870"/>
            <a:ext cx="8928992" cy="954410"/>
          </a:xfrm>
        </p:spPr>
        <p:txBody>
          <a:bodyPr/>
          <a:lstStyle/>
          <a:p>
            <a:r>
              <a:rPr lang="ru-RU" dirty="0" smtClean="0">
                <a:solidFill>
                  <a:schemeClr val="tx1"/>
                </a:solidFill>
              </a:rPr>
              <a:t>Преподаватель: </a:t>
            </a:r>
            <a:r>
              <a:rPr lang="ru-RU" dirty="0" err="1" smtClean="0">
                <a:solidFill>
                  <a:schemeClr val="tx1"/>
                </a:solidFill>
              </a:rPr>
              <a:t>Мытарин</a:t>
            </a:r>
            <a:r>
              <a:rPr lang="ru-RU" dirty="0" smtClean="0">
                <a:solidFill>
                  <a:schemeClr val="tx1"/>
                </a:solidFill>
              </a:rPr>
              <a:t> Евгений Сергеевич</a:t>
            </a:r>
            <a:endParaRPr lang="ru-RU" dirty="0">
              <a:solidFill>
                <a:schemeClr val="tx1"/>
              </a:solidFill>
            </a:endParaRPr>
          </a:p>
        </p:txBody>
      </p:sp>
      <p:pic>
        <p:nvPicPr>
          <p:cNvPr id="4" name="Рисунок 3"/>
          <p:cNvPicPr/>
          <p:nvPr/>
        </p:nvPicPr>
        <p:blipFill>
          <a:blip r:embed="rId2"/>
          <a:stretch>
            <a:fillRect/>
          </a:stretch>
        </p:blipFill>
        <p:spPr>
          <a:xfrm>
            <a:off x="2555776" y="1491630"/>
            <a:ext cx="4104456" cy="2065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67365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Цель работы</a:t>
            </a:r>
            <a:endParaRPr lang="ru-RU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Изучить основы NLP на </a:t>
            </a:r>
            <a:r>
              <a:rPr lang="ru-RU" dirty="0" smtClean="0"/>
              <a:t>практике</a:t>
            </a:r>
            <a:r>
              <a:rPr lang="en-US" dirty="0" smtClean="0"/>
              <a:t>;</a:t>
            </a:r>
            <a:endParaRPr lang="ru-RU" dirty="0"/>
          </a:p>
          <a:p>
            <a:r>
              <a:rPr lang="ru-RU" dirty="0"/>
              <a:t>Построить модель для классификации отзывов (например, положительные/отрицательные</a:t>
            </a:r>
            <a:r>
              <a:rPr lang="ru-RU" dirty="0" smtClean="0"/>
              <a:t>)</a:t>
            </a:r>
            <a:r>
              <a:rPr lang="en-US" dirty="0" smtClean="0"/>
              <a:t>;</a:t>
            </a:r>
            <a:endParaRPr lang="ru-RU" dirty="0"/>
          </a:p>
          <a:p>
            <a:r>
              <a:rPr lang="ru-RU" dirty="0"/>
              <a:t>Оценить качество модели.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598171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Используемые инструменты и данные</a:t>
            </a:r>
            <a:endParaRPr lang="ru-RU" sz="3600" b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1" dirty="0"/>
              <a:t>Язык программирования</a:t>
            </a:r>
            <a:r>
              <a:rPr lang="ru-RU" dirty="0"/>
              <a:t>: </a:t>
            </a:r>
            <a:r>
              <a:rPr lang="en-US" dirty="0"/>
              <a:t>Python</a:t>
            </a:r>
          </a:p>
          <a:p>
            <a:r>
              <a:rPr lang="ru-RU" b="1" dirty="0"/>
              <a:t>Библиотеки</a:t>
            </a:r>
            <a:r>
              <a:rPr lang="ru-RU" dirty="0"/>
              <a:t>: </a:t>
            </a:r>
            <a:r>
              <a:rPr lang="en-US" dirty="0" err="1"/>
              <a:t>nltk</a:t>
            </a:r>
            <a:r>
              <a:rPr lang="en-US" dirty="0"/>
              <a:t>, </a:t>
            </a:r>
            <a:r>
              <a:rPr lang="en-US" dirty="0" err="1"/>
              <a:t>scikit</a:t>
            </a:r>
            <a:r>
              <a:rPr lang="en-US" dirty="0"/>
              <a:t>-learn, pandas, </a:t>
            </a:r>
            <a:r>
              <a:rPr lang="en-US" dirty="0" err="1" smtClean="0"/>
              <a:t>matplotlib</a:t>
            </a:r>
            <a:endParaRPr lang="en-US" dirty="0"/>
          </a:p>
          <a:p>
            <a:r>
              <a:rPr lang="ru-RU" b="1" dirty="0"/>
              <a:t>Данные</a:t>
            </a:r>
            <a:r>
              <a:rPr lang="ru-RU" dirty="0"/>
              <a:t>: </a:t>
            </a:r>
            <a:r>
              <a:rPr lang="ru-RU" dirty="0" err="1"/>
              <a:t>Датасет</a:t>
            </a:r>
            <a:r>
              <a:rPr lang="ru-RU" dirty="0"/>
              <a:t> с отзывами </a:t>
            </a:r>
            <a:r>
              <a:rPr lang="ru-RU" dirty="0" smtClean="0"/>
              <a:t>клиник</a:t>
            </a:r>
            <a:r>
              <a:rPr lang="ru-RU" dirty="0" smtClean="0"/>
              <a:t>и.</a:t>
            </a:r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780842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Этапы обработки </a:t>
            </a:r>
            <a:r>
              <a:rPr lang="ru-RU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данных</a:t>
            </a:r>
            <a:endParaRPr lang="ru-RU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b="1" dirty="0"/>
              <a:t>Загрузка и предобработка текста</a:t>
            </a:r>
            <a:r>
              <a:rPr lang="ru-RU" dirty="0"/>
              <a:t>:</a:t>
            </a:r>
          </a:p>
          <a:p>
            <a:pPr lvl="1"/>
            <a:r>
              <a:rPr lang="ru-RU" dirty="0"/>
              <a:t>Удаление стоп-слов</a:t>
            </a:r>
            <a:r>
              <a:rPr lang="ru-RU" dirty="0" smtClean="0"/>
              <a:t>, знаков пунктуации;</a:t>
            </a:r>
            <a:endParaRPr lang="ru-RU" dirty="0"/>
          </a:p>
          <a:p>
            <a:pPr lvl="1"/>
            <a:r>
              <a:rPr lang="ru-RU" dirty="0" err="1" smtClean="0"/>
              <a:t>Лемматизация</a:t>
            </a:r>
            <a:r>
              <a:rPr lang="ru-RU" dirty="0" smtClean="0"/>
              <a:t>/</a:t>
            </a:r>
            <a:r>
              <a:rPr lang="ru-RU" dirty="0" err="1" smtClean="0"/>
              <a:t>стемминг</a:t>
            </a:r>
            <a:r>
              <a:rPr lang="ru-RU" dirty="0" smtClean="0"/>
              <a:t>;</a:t>
            </a:r>
          </a:p>
          <a:p>
            <a:pPr lvl="1"/>
            <a:r>
              <a:rPr lang="ru-RU" dirty="0" err="1" smtClean="0"/>
              <a:t>Токенизация</a:t>
            </a:r>
            <a:r>
              <a:rPr lang="ru-RU" dirty="0" smtClean="0"/>
              <a:t>.</a:t>
            </a:r>
            <a:endParaRPr lang="ru-RU" dirty="0"/>
          </a:p>
          <a:p>
            <a:r>
              <a:rPr lang="ru-RU" b="1" dirty="0"/>
              <a:t>Векторизация текста</a:t>
            </a:r>
            <a:r>
              <a:rPr lang="ru-RU" dirty="0"/>
              <a:t>:</a:t>
            </a:r>
          </a:p>
          <a:p>
            <a:pPr lvl="1"/>
            <a:r>
              <a:rPr lang="en-US" dirty="0" smtClean="0"/>
              <a:t>Bag of Words</a:t>
            </a:r>
            <a:r>
              <a:rPr lang="en-US" dirty="0"/>
              <a:t> / </a:t>
            </a:r>
            <a:r>
              <a:rPr lang="en-US" dirty="0" smtClean="0"/>
              <a:t>TF-IDF.</a:t>
            </a:r>
            <a:endParaRPr lang="en-US" dirty="0"/>
          </a:p>
          <a:p>
            <a:r>
              <a:rPr lang="ru-RU" b="1" dirty="0"/>
              <a:t>Разделение данных</a:t>
            </a:r>
            <a:r>
              <a:rPr lang="ru-RU" dirty="0"/>
              <a:t>:</a:t>
            </a:r>
          </a:p>
          <a:p>
            <a:pPr lvl="1"/>
            <a:r>
              <a:rPr lang="en-US" dirty="0"/>
              <a:t>Train/Test split (70/30 </a:t>
            </a:r>
            <a:r>
              <a:rPr lang="ru-RU" dirty="0"/>
              <a:t>или 80/20).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039416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Выбор модели и </a:t>
            </a:r>
            <a:r>
              <a:rPr lang="ru-RU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обучение</a:t>
            </a:r>
            <a:endParaRPr lang="ru-RU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1" dirty="0"/>
              <a:t>Модели</a:t>
            </a:r>
            <a:r>
              <a:rPr lang="ru-RU" dirty="0"/>
              <a:t>: Логистическая регрессия, </a:t>
            </a:r>
            <a:r>
              <a:rPr lang="en-US" dirty="0"/>
              <a:t>Random Forest, SVM </a:t>
            </a:r>
            <a:r>
              <a:rPr lang="ru-RU" dirty="0"/>
              <a:t>или </a:t>
            </a:r>
            <a:r>
              <a:rPr lang="ru-RU" dirty="0" err="1" smtClean="0"/>
              <a:t>нейросетевые</a:t>
            </a:r>
            <a:r>
              <a:rPr lang="ru-RU" dirty="0" smtClean="0"/>
              <a:t> модели </a:t>
            </a:r>
            <a:r>
              <a:rPr lang="ru-RU" dirty="0"/>
              <a:t>(</a:t>
            </a:r>
            <a:r>
              <a:rPr lang="en-US" dirty="0"/>
              <a:t>LSTM, BERT).</a:t>
            </a:r>
          </a:p>
          <a:p>
            <a:r>
              <a:rPr lang="ru-RU" b="1" dirty="0"/>
              <a:t>Обучение</a:t>
            </a:r>
            <a:r>
              <a:rPr lang="ru-RU" dirty="0"/>
              <a:t>: На тренировочных данных.</a:t>
            </a:r>
          </a:p>
          <a:p>
            <a:r>
              <a:rPr lang="ru-RU" b="1" dirty="0"/>
              <a:t>Метрики</a:t>
            </a:r>
            <a:r>
              <a:rPr lang="ru-RU" dirty="0"/>
              <a:t>: </a:t>
            </a:r>
            <a:r>
              <a:rPr lang="en-US" dirty="0"/>
              <a:t>Accuracy, Precision, Recall, F1-score.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473651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Результаты</a:t>
            </a:r>
            <a:endParaRPr lang="ru-RU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Таблица или график с метриками (например, </a:t>
            </a:r>
            <a:r>
              <a:rPr lang="ru-RU" dirty="0" err="1"/>
              <a:t>Accuracy</a:t>
            </a:r>
            <a:r>
              <a:rPr lang="ru-RU" dirty="0"/>
              <a:t> = 85</a:t>
            </a:r>
            <a:r>
              <a:rPr lang="ru-RU" dirty="0" smtClean="0"/>
              <a:t>%);</a:t>
            </a:r>
            <a:endParaRPr lang="ru-RU" dirty="0"/>
          </a:p>
          <a:p>
            <a:r>
              <a:rPr lang="ru-RU" dirty="0"/>
              <a:t>Примеры предсказаний (правильных и ошибочных).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736521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Интерпретация метрик </a:t>
            </a:r>
            <a:r>
              <a:rPr lang="ru-RU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классификации</a:t>
            </a:r>
            <a:endParaRPr lang="ru-RU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ru-RU" b="1" dirty="0" err="1"/>
              <a:t>Accuracy</a:t>
            </a:r>
            <a:r>
              <a:rPr lang="ru-RU" dirty="0"/>
              <a:t> – доля верных предсказаний. Полезна при сбалансированных классах, но не учитывает дисбаланс.</a:t>
            </a:r>
          </a:p>
          <a:p>
            <a:r>
              <a:rPr lang="ru-RU" b="1" dirty="0" err="1"/>
              <a:t>Precision</a:t>
            </a:r>
            <a:r>
              <a:rPr lang="ru-RU" dirty="0"/>
              <a:t> – точность положительных прогнозов. Важна, когда критичны ложные срабатывания (FP).</a:t>
            </a:r>
          </a:p>
          <a:p>
            <a:r>
              <a:rPr lang="ru-RU" b="1" dirty="0" err="1"/>
              <a:t>Recall</a:t>
            </a:r>
            <a:r>
              <a:rPr lang="ru-RU" dirty="0"/>
              <a:t> – полнота выявления положительных классов. Ключевая метрика, если нельзя пропускать реальные случаи (FN).</a:t>
            </a:r>
          </a:p>
          <a:p>
            <a:r>
              <a:rPr lang="ru-RU" b="1" dirty="0"/>
              <a:t>F1-score</a:t>
            </a:r>
            <a:r>
              <a:rPr lang="ru-RU" dirty="0"/>
              <a:t> – баланс между </a:t>
            </a:r>
            <a:r>
              <a:rPr lang="ru-RU" dirty="0" err="1"/>
              <a:t>Precision</a:t>
            </a:r>
            <a:r>
              <a:rPr lang="ru-RU" dirty="0"/>
              <a:t> и </a:t>
            </a:r>
            <a:r>
              <a:rPr lang="ru-RU" dirty="0" err="1"/>
              <a:t>Recall</a:t>
            </a:r>
            <a:r>
              <a:rPr lang="ru-RU" dirty="0"/>
              <a:t>. Используется при дисбалансе классов или необходимости компромисса между ошибками.</a:t>
            </a:r>
          </a:p>
          <a:p>
            <a:r>
              <a:rPr lang="ru-RU" b="1" dirty="0"/>
              <a:t>Пример</a:t>
            </a:r>
            <a:r>
              <a:rPr lang="ru-RU" dirty="0"/>
              <a:t>:</a:t>
            </a:r>
          </a:p>
          <a:p>
            <a:r>
              <a:rPr lang="ru-RU" dirty="0" err="1"/>
              <a:t>Accuracy</a:t>
            </a:r>
            <a:r>
              <a:rPr lang="ru-RU" dirty="0"/>
              <a:t> = 0.85 → 85% верных прогнозов.</a:t>
            </a:r>
          </a:p>
          <a:p>
            <a:r>
              <a:rPr lang="ru-RU" dirty="0" err="1"/>
              <a:t>Precision</a:t>
            </a:r>
            <a:r>
              <a:rPr lang="ru-RU" dirty="0"/>
              <a:t> = 0.80 → 80% «положительных» отзывов верны.</a:t>
            </a:r>
          </a:p>
          <a:p>
            <a:r>
              <a:rPr lang="ru-RU" dirty="0" err="1"/>
              <a:t>Recall</a:t>
            </a:r>
            <a:r>
              <a:rPr lang="ru-RU" dirty="0"/>
              <a:t> = 0.90 → найдено 90% реально положительных отзывов.</a:t>
            </a:r>
          </a:p>
          <a:p>
            <a:r>
              <a:rPr lang="ru-RU" dirty="0"/>
              <a:t>F1 = 0.85 → хороший баланс между точностью и полнотой.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431827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Код – Предобработка текста</a:t>
            </a:r>
            <a:endParaRPr lang="ru-RU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95536" y="987574"/>
            <a:ext cx="8229600" cy="3819871"/>
          </a:xfrm>
        </p:spPr>
        <p:txBody>
          <a:bodyPr>
            <a:noAutofit/>
          </a:bodyPr>
          <a:lstStyle/>
          <a:p>
            <a:r>
              <a:rPr lang="en-US" sz="800" dirty="0" smtClean="0"/>
              <a:t>import re</a:t>
            </a:r>
          </a:p>
          <a:p>
            <a:r>
              <a:rPr lang="en-US" sz="800" dirty="0" smtClean="0"/>
              <a:t>import </a:t>
            </a:r>
            <a:r>
              <a:rPr lang="en-US" sz="800" dirty="0" err="1" smtClean="0"/>
              <a:t>nltk</a:t>
            </a:r>
            <a:endParaRPr lang="en-US" sz="800" dirty="0" smtClean="0"/>
          </a:p>
          <a:p>
            <a:r>
              <a:rPr lang="en-US" sz="800" dirty="0" smtClean="0"/>
              <a:t>from </a:t>
            </a:r>
            <a:r>
              <a:rPr lang="en-US" sz="800" dirty="0" err="1" smtClean="0"/>
              <a:t>nltk.corpus</a:t>
            </a:r>
            <a:r>
              <a:rPr lang="en-US" sz="800" dirty="0" smtClean="0"/>
              <a:t> import </a:t>
            </a:r>
            <a:r>
              <a:rPr lang="en-US" sz="800" dirty="0" err="1" smtClean="0"/>
              <a:t>stopwords</a:t>
            </a:r>
            <a:endParaRPr lang="en-US" sz="800" dirty="0" smtClean="0"/>
          </a:p>
          <a:p>
            <a:r>
              <a:rPr lang="en-US" sz="800" dirty="0" smtClean="0"/>
              <a:t>from </a:t>
            </a:r>
            <a:r>
              <a:rPr lang="en-US" sz="800" dirty="0" err="1" smtClean="0"/>
              <a:t>nltk.stem</a:t>
            </a:r>
            <a:r>
              <a:rPr lang="en-US" sz="800" dirty="0" smtClean="0"/>
              <a:t> import </a:t>
            </a:r>
            <a:r>
              <a:rPr lang="en-US" sz="800" dirty="0" err="1" smtClean="0"/>
              <a:t>WordNetLemmatizer</a:t>
            </a:r>
            <a:endParaRPr lang="en-US" sz="800" dirty="0" smtClean="0"/>
          </a:p>
          <a:p>
            <a:endParaRPr lang="en-US" sz="800" dirty="0" smtClean="0"/>
          </a:p>
          <a:p>
            <a:r>
              <a:rPr lang="en-US" sz="800" dirty="0" err="1" smtClean="0"/>
              <a:t>nltk.download</a:t>
            </a:r>
            <a:r>
              <a:rPr lang="en-US" sz="800" dirty="0" smtClean="0"/>
              <a:t>('</a:t>
            </a:r>
            <a:r>
              <a:rPr lang="en-US" sz="800" dirty="0" err="1" smtClean="0"/>
              <a:t>stopwords</a:t>
            </a:r>
            <a:r>
              <a:rPr lang="en-US" sz="800" dirty="0" smtClean="0"/>
              <a:t>')</a:t>
            </a:r>
          </a:p>
          <a:p>
            <a:r>
              <a:rPr lang="en-US" sz="800" dirty="0" err="1" smtClean="0"/>
              <a:t>nltk.download</a:t>
            </a:r>
            <a:r>
              <a:rPr lang="en-US" sz="800" dirty="0" smtClean="0"/>
              <a:t>('</a:t>
            </a:r>
            <a:r>
              <a:rPr lang="en-US" sz="800" dirty="0" err="1" smtClean="0"/>
              <a:t>wordnet</a:t>
            </a:r>
            <a:r>
              <a:rPr lang="en-US" sz="800" dirty="0" smtClean="0"/>
              <a:t>')</a:t>
            </a:r>
          </a:p>
          <a:p>
            <a:endParaRPr lang="en-US" sz="800" dirty="0" smtClean="0"/>
          </a:p>
          <a:p>
            <a:r>
              <a:rPr lang="en-US" sz="800" dirty="0" err="1" smtClean="0"/>
              <a:t>def</a:t>
            </a:r>
            <a:r>
              <a:rPr lang="en-US" sz="800" dirty="0" smtClean="0"/>
              <a:t> </a:t>
            </a:r>
            <a:r>
              <a:rPr lang="en-US" sz="800" dirty="0" err="1" smtClean="0"/>
              <a:t>preprocess_text</a:t>
            </a:r>
            <a:r>
              <a:rPr lang="en-US" sz="800" dirty="0" smtClean="0"/>
              <a:t>(text):</a:t>
            </a:r>
          </a:p>
          <a:p>
            <a:r>
              <a:rPr lang="en-US" sz="800" dirty="0" smtClean="0"/>
              <a:t>    # </a:t>
            </a:r>
            <a:r>
              <a:rPr lang="ru-RU" sz="800" dirty="0" smtClean="0"/>
              <a:t>Удаление спецсимволов и цифр</a:t>
            </a:r>
          </a:p>
          <a:p>
            <a:r>
              <a:rPr lang="ru-RU" sz="800" dirty="0" smtClean="0"/>
              <a:t>    </a:t>
            </a:r>
            <a:r>
              <a:rPr lang="en-US" sz="800" dirty="0" smtClean="0"/>
              <a:t>text = </a:t>
            </a:r>
            <a:r>
              <a:rPr lang="en-US" sz="800" dirty="0" err="1" smtClean="0"/>
              <a:t>re.sub</a:t>
            </a:r>
            <a:r>
              <a:rPr lang="en-US" sz="800" dirty="0" smtClean="0"/>
              <a:t>(r'[^a-</a:t>
            </a:r>
            <a:r>
              <a:rPr lang="en-US" sz="800" dirty="0" err="1" smtClean="0"/>
              <a:t>zA</a:t>
            </a:r>
            <a:r>
              <a:rPr lang="en-US" sz="800" dirty="0" smtClean="0"/>
              <a:t>-Z</a:t>
            </a:r>
            <a:r>
              <a:rPr lang="ru-RU" sz="800" dirty="0" smtClean="0"/>
              <a:t>а-</a:t>
            </a:r>
            <a:r>
              <a:rPr lang="ru-RU" sz="800" dirty="0" err="1" smtClean="0"/>
              <a:t>яА</a:t>
            </a:r>
            <a:r>
              <a:rPr lang="ru-RU" sz="800" dirty="0" smtClean="0"/>
              <a:t>-</a:t>
            </a:r>
            <a:r>
              <a:rPr lang="ru-RU" sz="800" dirty="0" err="1" smtClean="0"/>
              <a:t>ЯёЁ</a:t>
            </a:r>
            <a:r>
              <a:rPr lang="ru-RU" sz="800" dirty="0" smtClean="0"/>
              <a:t> ]', '', </a:t>
            </a:r>
            <a:r>
              <a:rPr lang="en-US" sz="800" dirty="0" smtClean="0"/>
              <a:t>text)</a:t>
            </a:r>
          </a:p>
          <a:p>
            <a:r>
              <a:rPr lang="en-US" sz="800" dirty="0" smtClean="0"/>
              <a:t>    # </a:t>
            </a:r>
            <a:r>
              <a:rPr lang="ru-RU" sz="800" dirty="0" smtClean="0"/>
              <a:t>Приведение к нижнему регистру</a:t>
            </a:r>
          </a:p>
          <a:p>
            <a:r>
              <a:rPr lang="ru-RU" sz="800" dirty="0" smtClean="0"/>
              <a:t>    </a:t>
            </a:r>
            <a:r>
              <a:rPr lang="en-US" sz="800" dirty="0" smtClean="0"/>
              <a:t>text = </a:t>
            </a:r>
            <a:r>
              <a:rPr lang="en-US" sz="800" dirty="0" err="1" smtClean="0"/>
              <a:t>text.lower</a:t>
            </a:r>
            <a:r>
              <a:rPr lang="en-US" sz="800" dirty="0" smtClean="0"/>
              <a:t>()</a:t>
            </a:r>
          </a:p>
          <a:p>
            <a:r>
              <a:rPr lang="en-US" sz="800" dirty="0" smtClean="0"/>
              <a:t>    # </a:t>
            </a:r>
            <a:r>
              <a:rPr lang="ru-RU" sz="800" dirty="0" smtClean="0"/>
              <a:t>Удаление стоп-слов (и, в, на и т.д.)</a:t>
            </a:r>
          </a:p>
          <a:p>
            <a:r>
              <a:rPr lang="ru-RU" sz="800" dirty="0" smtClean="0"/>
              <a:t>    </a:t>
            </a:r>
            <a:r>
              <a:rPr lang="en-US" sz="800" dirty="0" err="1" smtClean="0"/>
              <a:t>stop_words</a:t>
            </a:r>
            <a:r>
              <a:rPr lang="en-US" sz="800" dirty="0" smtClean="0"/>
              <a:t> = set(</a:t>
            </a:r>
            <a:r>
              <a:rPr lang="en-US" sz="800" dirty="0" err="1" smtClean="0"/>
              <a:t>stopwords.words</a:t>
            </a:r>
            <a:r>
              <a:rPr lang="en-US" sz="800" dirty="0" smtClean="0"/>
              <a:t>('</a:t>
            </a:r>
            <a:r>
              <a:rPr lang="en-US" sz="800" dirty="0" err="1" smtClean="0"/>
              <a:t>russian</a:t>
            </a:r>
            <a:r>
              <a:rPr lang="en-US" sz="800" dirty="0" smtClean="0"/>
              <a:t>'))</a:t>
            </a:r>
          </a:p>
          <a:p>
            <a:r>
              <a:rPr lang="en-US" sz="800" dirty="0" smtClean="0"/>
              <a:t>    words = </a:t>
            </a:r>
            <a:r>
              <a:rPr lang="en-US" sz="800" dirty="0" err="1" smtClean="0"/>
              <a:t>text.split</a:t>
            </a:r>
            <a:r>
              <a:rPr lang="en-US" sz="800" dirty="0" smtClean="0"/>
              <a:t>()</a:t>
            </a:r>
          </a:p>
          <a:p>
            <a:r>
              <a:rPr lang="en-US" sz="800" dirty="0" smtClean="0"/>
              <a:t>    words = [word for word in words if word not in </a:t>
            </a:r>
            <a:r>
              <a:rPr lang="en-US" sz="800" dirty="0" err="1" smtClean="0"/>
              <a:t>stop_words</a:t>
            </a:r>
            <a:r>
              <a:rPr lang="en-US" sz="800" dirty="0" smtClean="0"/>
              <a:t>]</a:t>
            </a:r>
          </a:p>
          <a:p>
            <a:r>
              <a:rPr lang="en-US" sz="800" dirty="0" smtClean="0"/>
              <a:t>    # </a:t>
            </a:r>
            <a:r>
              <a:rPr lang="ru-RU" sz="800" dirty="0" err="1" smtClean="0"/>
              <a:t>Лемматизация</a:t>
            </a:r>
            <a:r>
              <a:rPr lang="ru-RU" sz="800" dirty="0" smtClean="0"/>
              <a:t> (приведение к нормальной форме)</a:t>
            </a:r>
          </a:p>
          <a:p>
            <a:r>
              <a:rPr lang="ru-RU" sz="800" dirty="0" smtClean="0"/>
              <a:t>    </a:t>
            </a:r>
            <a:r>
              <a:rPr lang="en-US" sz="800" dirty="0" err="1" smtClean="0"/>
              <a:t>lemmatizer</a:t>
            </a:r>
            <a:r>
              <a:rPr lang="en-US" sz="800" dirty="0" smtClean="0"/>
              <a:t> = </a:t>
            </a:r>
            <a:r>
              <a:rPr lang="en-US" sz="800" dirty="0" err="1" smtClean="0"/>
              <a:t>WordNetLemmatizer</a:t>
            </a:r>
            <a:r>
              <a:rPr lang="en-US" sz="800" dirty="0" smtClean="0"/>
              <a:t>()</a:t>
            </a:r>
          </a:p>
          <a:p>
            <a:r>
              <a:rPr lang="en-US" sz="800" dirty="0" smtClean="0"/>
              <a:t>    words = [</a:t>
            </a:r>
            <a:r>
              <a:rPr lang="en-US" sz="800" dirty="0" err="1" smtClean="0"/>
              <a:t>lemmatizer.lemmatize</a:t>
            </a:r>
            <a:r>
              <a:rPr lang="en-US" sz="800" dirty="0" smtClean="0"/>
              <a:t>(word) for word in words]</a:t>
            </a:r>
          </a:p>
          <a:p>
            <a:r>
              <a:rPr lang="en-US" sz="800" dirty="0" smtClean="0"/>
              <a:t>    return ' '.join(words)</a:t>
            </a:r>
          </a:p>
          <a:p>
            <a:endParaRPr lang="en-US" sz="800" dirty="0" smtClean="0"/>
          </a:p>
          <a:p>
            <a:r>
              <a:rPr lang="en-US" sz="800" dirty="0" smtClean="0"/>
              <a:t># </a:t>
            </a:r>
            <a:r>
              <a:rPr lang="ru-RU" sz="800" dirty="0" smtClean="0"/>
              <a:t>Пример применения</a:t>
            </a:r>
          </a:p>
          <a:p>
            <a:r>
              <a:rPr lang="en-US" sz="800" dirty="0" smtClean="0"/>
              <a:t>text = "</a:t>
            </a:r>
            <a:r>
              <a:rPr lang="ru-RU" sz="800" dirty="0" smtClean="0"/>
              <a:t>Врачи — профессионалы, лечение помогло!"</a:t>
            </a:r>
          </a:p>
          <a:p>
            <a:r>
              <a:rPr lang="en-US" sz="800" dirty="0" err="1" smtClean="0"/>
              <a:t>cleaned_text</a:t>
            </a:r>
            <a:r>
              <a:rPr lang="en-US" sz="800" dirty="0" smtClean="0"/>
              <a:t> = </a:t>
            </a:r>
            <a:r>
              <a:rPr lang="en-US" sz="800" dirty="0" err="1" smtClean="0"/>
              <a:t>preprocess_text</a:t>
            </a:r>
            <a:r>
              <a:rPr lang="en-US" sz="800" dirty="0" smtClean="0"/>
              <a:t>(text)  # "</a:t>
            </a:r>
            <a:r>
              <a:rPr lang="ru-RU" sz="800" dirty="0" smtClean="0"/>
              <a:t>врач профессионал лечение помочь"</a:t>
            </a:r>
            <a:endParaRPr lang="ru-RU" sz="800" dirty="0"/>
          </a:p>
        </p:txBody>
      </p:sp>
    </p:spTree>
    <p:extLst>
      <p:ext uri="{BB962C8B-B14F-4D97-AF65-F5344CB8AC3E}">
        <p14:creationId xmlns:p14="http://schemas.microsoft.com/office/powerpoint/2010/main" val="31330182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Код – Векторизация текста</a:t>
            </a:r>
            <a:endParaRPr lang="ru-RU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 smtClean="0"/>
              <a:t>from </a:t>
            </a:r>
            <a:r>
              <a:rPr lang="en-US" dirty="0" err="1" smtClean="0"/>
              <a:t>sklearn.feature_extraction.text</a:t>
            </a:r>
            <a:r>
              <a:rPr lang="en-US" dirty="0" smtClean="0"/>
              <a:t> import </a:t>
            </a:r>
            <a:r>
              <a:rPr lang="en-US" dirty="0" err="1" smtClean="0"/>
              <a:t>TfidfVectorizer</a:t>
            </a:r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corpus = [</a:t>
            </a:r>
          </a:p>
          <a:p>
            <a:r>
              <a:rPr lang="en-US" dirty="0" smtClean="0"/>
              <a:t>    "</a:t>
            </a:r>
            <a:r>
              <a:rPr lang="ru-RU" dirty="0" smtClean="0"/>
              <a:t>врач профессионал лечение помочь",</a:t>
            </a:r>
          </a:p>
          <a:p>
            <a:r>
              <a:rPr lang="ru-RU" dirty="0" smtClean="0"/>
              <a:t>    "очередь огромный персонал грубый"</a:t>
            </a:r>
          </a:p>
          <a:p>
            <a:r>
              <a:rPr lang="ru-RU" dirty="0" smtClean="0"/>
              <a:t>]</a:t>
            </a:r>
          </a:p>
          <a:p>
            <a:r>
              <a:rPr lang="en-US" dirty="0" err="1" smtClean="0"/>
              <a:t>vectorizer</a:t>
            </a:r>
            <a:r>
              <a:rPr lang="en-US" dirty="0" smtClean="0"/>
              <a:t> = </a:t>
            </a:r>
            <a:r>
              <a:rPr lang="en-US" dirty="0" err="1" smtClean="0"/>
              <a:t>TfidfVectorizer</a:t>
            </a:r>
            <a:r>
              <a:rPr lang="en-US" dirty="0" smtClean="0"/>
              <a:t>()</a:t>
            </a:r>
          </a:p>
          <a:p>
            <a:r>
              <a:rPr lang="en-US" dirty="0" smtClean="0"/>
              <a:t>X = </a:t>
            </a:r>
            <a:r>
              <a:rPr lang="en-US" dirty="0" err="1" smtClean="0"/>
              <a:t>vectorizer.fit_transform</a:t>
            </a:r>
            <a:r>
              <a:rPr lang="en-US" dirty="0" smtClean="0"/>
              <a:t>(corpus)  # </a:t>
            </a:r>
            <a:r>
              <a:rPr lang="ru-RU" dirty="0" smtClean="0"/>
              <a:t>Матрица признаков</a:t>
            </a:r>
          </a:p>
          <a:p>
            <a:r>
              <a:rPr lang="en-US" dirty="0" smtClean="0"/>
              <a:t>y = [1, 0]  # </a:t>
            </a:r>
            <a:r>
              <a:rPr lang="ru-RU" dirty="0" smtClean="0"/>
              <a:t>Метки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409946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Код – Обучение модели классификации</a:t>
            </a:r>
            <a:endParaRPr lang="ru-RU" sz="3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 smtClean="0"/>
              <a:t>from </a:t>
            </a:r>
            <a:r>
              <a:rPr lang="en-US" dirty="0" err="1" smtClean="0"/>
              <a:t>sklearn.naive_bayes</a:t>
            </a:r>
            <a:r>
              <a:rPr lang="en-US" dirty="0" smtClean="0"/>
              <a:t> import </a:t>
            </a:r>
            <a:r>
              <a:rPr lang="en-US" dirty="0" err="1" smtClean="0"/>
              <a:t>MultinomialNB</a:t>
            </a:r>
            <a:endParaRPr lang="en-US" dirty="0" smtClean="0"/>
          </a:p>
          <a:p>
            <a:r>
              <a:rPr lang="en-US" dirty="0" smtClean="0"/>
              <a:t>from </a:t>
            </a:r>
            <a:r>
              <a:rPr lang="en-US" dirty="0" err="1" smtClean="0"/>
              <a:t>sklearn.model_selection</a:t>
            </a:r>
            <a:r>
              <a:rPr lang="en-US" dirty="0" smtClean="0"/>
              <a:t> import </a:t>
            </a:r>
            <a:r>
              <a:rPr lang="en-US" dirty="0" err="1" smtClean="0"/>
              <a:t>train_test_split</a:t>
            </a:r>
            <a:endParaRPr lang="en-US" dirty="0" smtClean="0"/>
          </a:p>
          <a:p>
            <a:endParaRPr lang="en-US" dirty="0" smtClean="0"/>
          </a:p>
          <a:p>
            <a:r>
              <a:rPr lang="en-US" dirty="0" err="1" smtClean="0"/>
              <a:t>X_train</a:t>
            </a:r>
            <a:r>
              <a:rPr lang="en-US" dirty="0" smtClean="0"/>
              <a:t>, </a:t>
            </a:r>
            <a:r>
              <a:rPr lang="en-US" dirty="0" err="1" smtClean="0"/>
              <a:t>X_test</a:t>
            </a:r>
            <a:r>
              <a:rPr lang="en-US" dirty="0" smtClean="0"/>
              <a:t>, </a:t>
            </a:r>
            <a:r>
              <a:rPr lang="en-US" dirty="0" err="1" smtClean="0"/>
              <a:t>y_train</a:t>
            </a:r>
            <a:r>
              <a:rPr lang="en-US" dirty="0" smtClean="0"/>
              <a:t>, </a:t>
            </a:r>
            <a:r>
              <a:rPr lang="en-US" dirty="0" err="1" smtClean="0"/>
              <a:t>y_test</a:t>
            </a:r>
            <a:r>
              <a:rPr lang="en-US" dirty="0" smtClean="0"/>
              <a:t> = </a:t>
            </a:r>
            <a:r>
              <a:rPr lang="en-US" dirty="0" err="1" smtClean="0"/>
              <a:t>train_test_split</a:t>
            </a:r>
            <a:r>
              <a:rPr lang="en-US" dirty="0" smtClean="0"/>
              <a:t>(X, y, </a:t>
            </a:r>
            <a:r>
              <a:rPr lang="en-US" dirty="0" err="1" smtClean="0"/>
              <a:t>test_size</a:t>
            </a:r>
            <a:r>
              <a:rPr lang="en-US" dirty="0" smtClean="0"/>
              <a:t>=0.2)</a:t>
            </a:r>
          </a:p>
          <a:p>
            <a:r>
              <a:rPr lang="en-US" dirty="0" smtClean="0"/>
              <a:t>model = </a:t>
            </a:r>
            <a:r>
              <a:rPr lang="en-US" dirty="0" err="1" smtClean="0"/>
              <a:t>MultinomialNB</a:t>
            </a:r>
            <a:r>
              <a:rPr lang="en-US" dirty="0" smtClean="0"/>
              <a:t>()</a:t>
            </a:r>
          </a:p>
          <a:p>
            <a:r>
              <a:rPr lang="en-US" dirty="0" err="1" smtClean="0"/>
              <a:t>model.fit</a:t>
            </a:r>
            <a:r>
              <a:rPr lang="en-US" dirty="0" smtClean="0"/>
              <a:t>(</a:t>
            </a:r>
            <a:r>
              <a:rPr lang="en-US" dirty="0" err="1" smtClean="0"/>
              <a:t>X_train</a:t>
            </a:r>
            <a:r>
              <a:rPr lang="en-US" dirty="0" smtClean="0"/>
              <a:t>, </a:t>
            </a:r>
            <a:r>
              <a:rPr lang="en-US" dirty="0" err="1" smtClean="0"/>
              <a:t>y_train</a:t>
            </a:r>
            <a:r>
              <a:rPr lang="en-US" dirty="0" smtClean="0"/>
              <a:t>)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398365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Код – Оценка качества модели</a:t>
            </a:r>
            <a:endParaRPr lang="ru-RU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from </a:t>
            </a:r>
            <a:r>
              <a:rPr lang="en-US" dirty="0" err="1" smtClean="0"/>
              <a:t>sklearn.metrics</a:t>
            </a:r>
            <a:r>
              <a:rPr lang="en-US" dirty="0" smtClean="0"/>
              <a:t> import </a:t>
            </a:r>
            <a:r>
              <a:rPr lang="en-US" dirty="0" err="1" smtClean="0"/>
              <a:t>classification_report</a:t>
            </a:r>
            <a:endParaRPr lang="en-US" dirty="0" smtClean="0"/>
          </a:p>
          <a:p>
            <a:endParaRPr lang="en-US" dirty="0" smtClean="0"/>
          </a:p>
          <a:p>
            <a:r>
              <a:rPr lang="en-US" dirty="0" err="1" smtClean="0"/>
              <a:t>y_pred</a:t>
            </a:r>
            <a:r>
              <a:rPr lang="en-US" dirty="0" smtClean="0"/>
              <a:t> = </a:t>
            </a:r>
            <a:r>
              <a:rPr lang="en-US" dirty="0" err="1" smtClean="0"/>
              <a:t>model.predict</a:t>
            </a:r>
            <a:r>
              <a:rPr lang="en-US" dirty="0" smtClean="0"/>
              <a:t>(</a:t>
            </a:r>
            <a:r>
              <a:rPr lang="en-US" dirty="0" err="1" smtClean="0"/>
              <a:t>X_test</a:t>
            </a:r>
            <a:r>
              <a:rPr lang="en-US" dirty="0" smtClean="0"/>
              <a:t>)</a:t>
            </a:r>
          </a:p>
          <a:p>
            <a:r>
              <a:rPr lang="en-US" dirty="0" smtClean="0"/>
              <a:t>print(</a:t>
            </a:r>
            <a:r>
              <a:rPr lang="en-US" dirty="0" err="1" smtClean="0"/>
              <a:t>classification_report</a:t>
            </a:r>
            <a:r>
              <a:rPr lang="en-US" dirty="0" smtClean="0"/>
              <a:t>(</a:t>
            </a:r>
            <a:r>
              <a:rPr lang="en-US" dirty="0" err="1" smtClean="0"/>
              <a:t>y_test</a:t>
            </a:r>
            <a:r>
              <a:rPr lang="en-US" dirty="0" smtClean="0"/>
              <a:t>, </a:t>
            </a:r>
            <a:r>
              <a:rPr lang="en-US" dirty="0" err="1" smtClean="0"/>
              <a:t>y_pred</a:t>
            </a:r>
            <a:r>
              <a:rPr lang="en-US" dirty="0" smtClean="0"/>
              <a:t>))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500875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9752" y="0"/>
            <a:ext cx="3911464" cy="49899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467508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1601787" y="447992"/>
            <a:ext cx="5940425" cy="42475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22801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/>
          <p:nvPr/>
        </p:nvPicPr>
        <p:blipFill>
          <a:blip r:embed="rId2"/>
          <a:stretch>
            <a:fillRect/>
          </a:stretch>
        </p:blipFill>
        <p:spPr>
          <a:xfrm>
            <a:off x="4203017" y="46438"/>
            <a:ext cx="4824536" cy="2569207"/>
          </a:xfrm>
          <a:prstGeom prst="rect">
            <a:avLst/>
          </a:prstGeom>
        </p:spPr>
      </p:pic>
      <p:pic>
        <p:nvPicPr>
          <p:cNvPr id="5" name="Рисунок 4"/>
          <p:cNvPicPr/>
          <p:nvPr/>
        </p:nvPicPr>
        <p:blipFill>
          <a:blip r:embed="rId3"/>
          <a:stretch>
            <a:fillRect/>
          </a:stretch>
        </p:blipFill>
        <p:spPr>
          <a:xfrm>
            <a:off x="4203017" y="2758133"/>
            <a:ext cx="4554389" cy="2385367"/>
          </a:xfrm>
          <a:prstGeom prst="rect">
            <a:avLst/>
          </a:prstGeom>
        </p:spPr>
      </p:pic>
      <p:sp>
        <p:nvSpPr>
          <p:cNvPr id="6" name="Прямоугольник 5"/>
          <p:cNvSpPr/>
          <p:nvPr/>
        </p:nvSpPr>
        <p:spPr>
          <a:xfrm>
            <a:off x="243767" y="339502"/>
            <a:ext cx="4572000" cy="427809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600" dirty="0" err="1"/>
              <a:t>pos_texts</a:t>
            </a:r>
            <a:r>
              <a:rPr lang="en-US" sz="1600" dirty="0"/>
              <a:t> = [text for text, label in zip(</a:t>
            </a:r>
            <a:r>
              <a:rPr lang="en-US" sz="1600" dirty="0" err="1"/>
              <a:t>X_test_cleaned</a:t>
            </a:r>
            <a:r>
              <a:rPr lang="en-US" sz="1600" dirty="0"/>
              <a:t>, y) if label == 1</a:t>
            </a:r>
            <a:r>
              <a:rPr lang="en-US" sz="1600" dirty="0" smtClean="0"/>
              <a:t>]</a:t>
            </a:r>
            <a:r>
              <a:rPr lang="en-US" sz="1600" dirty="0"/>
              <a:t/>
            </a:r>
            <a:br>
              <a:rPr lang="en-US" sz="1600" dirty="0"/>
            </a:br>
            <a:r>
              <a:rPr lang="en-US" sz="1600" dirty="0"/>
              <a:t/>
            </a:r>
            <a:br>
              <a:rPr lang="en-US" sz="1600" dirty="0"/>
            </a:br>
            <a:r>
              <a:rPr lang="en-US" sz="1600" dirty="0" err="1"/>
              <a:t>all_text_p</a:t>
            </a:r>
            <a:r>
              <a:rPr lang="en-US" sz="1600" dirty="0"/>
              <a:t> = ' '.join(</a:t>
            </a:r>
            <a:r>
              <a:rPr lang="en-US" sz="1600" dirty="0" err="1"/>
              <a:t>pos_texts</a:t>
            </a:r>
            <a:r>
              <a:rPr lang="en-US" sz="1600" dirty="0"/>
              <a:t>)</a:t>
            </a:r>
            <a:br>
              <a:rPr lang="en-US" sz="1600" dirty="0"/>
            </a:br>
            <a:r>
              <a:rPr lang="en-US" sz="1600" dirty="0" err="1"/>
              <a:t>wordcloud_p</a:t>
            </a:r>
            <a:r>
              <a:rPr lang="en-US" sz="1600" dirty="0"/>
              <a:t> = </a:t>
            </a:r>
            <a:r>
              <a:rPr lang="en-US" sz="1600" dirty="0" err="1"/>
              <a:t>WordCloud</a:t>
            </a:r>
            <a:r>
              <a:rPr lang="en-US" sz="1600" dirty="0"/>
              <a:t>(</a:t>
            </a:r>
            <a:br>
              <a:rPr lang="en-US" sz="1600" dirty="0"/>
            </a:br>
            <a:r>
              <a:rPr lang="en-US" sz="1600" dirty="0"/>
              <a:t>    width=800,</a:t>
            </a:r>
            <a:br>
              <a:rPr lang="en-US" sz="1600" dirty="0"/>
            </a:br>
            <a:r>
              <a:rPr lang="en-US" sz="1600" dirty="0"/>
              <a:t>    height=400,</a:t>
            </a:r>
            <a:br>
              <a:rPr lang="en-US" sz="1600" dirty="0"/>
            </a:br>
            <a:r>
              <a:rPr lang="en-US" sz="1600" dirty="0"/>
              <a:t>    </a:t>
            </a:r>
            <a:r>
              <a:rPr lang="en-US" sz="1600" dirty="0" err="1"/>
              <a:t>background_color</a:t>
            </a:r>
            <a:r>
              <a:rPr lang="en-US" sz="1600" dirty="0"/>
              <a:t>='white',</a:t>
            </a:r>
            <a:br>
              <a:rPr lang="en-US" sz="1600" dirty="0"/>
            </a:br>
            <a:r>
              <a:rPr lang="en-US" sz="1600" dirty="0"/>
              <a:t>    </a:t>
            </a:r>
            <a:r>
              <a:rPr lang="en-US" sz="1600" dirty="0" err="1"/>
              <a:t>max_words</a:t>
            </a:r>
            <a:r>
              <a:rPr lang="en-US" sz="1600" dirty="0"/>
              <a:t>=100</a:t>
            </a:r>
            <a:br>
              <a:rPr lang="en-US" sz="1600" dirty="0"/>
            </a:br>
            <a:r>
              <a:rPr lang="en-US" sz="1600" dirty="0"/>
              <a:t>).generate(</a:t>
            </a:r>
            <a:r>
              <a:rPr lang="en-US" sz="1600" dirty="0" err="1"/>
              <a:t>all_text_p</a:t>
            </a:r>
            <a:r>
              <a:rPr lang="en-US" sz="1600" dirty="0"/>
              <a:t>)</a:t>
            </a:r>
          </a:p>
          <a:p>
            <a:endParaRPr lang="en-US" sz="1600" dirty="0"/>
          </a:p>
          <a:p>
            <a:r>
              <a:rPr lang="en-US" sz="1600" dirty="0" err="1"/>
              <a:t>plt.figure</a:t>
            </a:r>
            <a:r>
              <a:rPr lang="en-US" sz="1600" dirty="0"/>
              <a:t>(</a:t>
            </a:r>
            <a:r>
              <a:rPr lang="en-US" sz="1600" dirty="0" err="1"/>
              <a:t>figsize</a:t>
            </a:r>
            <a:r>
              <a:rPr lang="en-US" sz="1600" dirty="0"/>
              <a:t>=(12, 6))</a:t>
            </a:r>
          </a:p>
          <a:p>
            <a:r>
              <a:rPr lang="en-US" sz="1600" dirty="0" err="1" smtClean="0"/>
              <a:t>plt.imshow</a:t>
            </a:r>
            <a:r>
              <a:rPr lang="en-US" sz="1600" dirty="0" smtClean="0"/>
              <a:t>(</a:t>
            </a:r>
            <a:r>
              <a:rPr lang="en-US" sz="1600" dirty="0" err="1" smtClean="0"/>
              <a:t>wordcloud_p</a:t>
            </a:r>
            <a:r>
              <a:rPr lang="en-US" sz="1600" dirty="0" smtClean="0"/>
              <a:t>, </a:t>
            </a:r>
            <a:r>
              <a:rPr lang="en-US" sz="1600" dirty="0"/>
              <a:t>interpolation='bilinear')</a:t>
            </a:r>
          </a:p>
          <a:p>
            <a:r>
              <a:rPr lang="en-US" sz="1600" dirty="0" err="1"/>
              <a:t>plt.axis</a:t>
            </a:r>
            <a:r>
              <a:rPr lang="en-US" sz="1600" dirty="0"/>
              <a:t>('off')</a:t>
            </a:r>
          </a:p>
          <a:p>
            <a:r>
              <a:rPr lang="en-US" sz="1600" dirty="0" err="1"/>
              <a:t>plt.title</a:t>
            </a:r>
            <a:r>
              <a:rPr lang="en-US" sz="1600" dirty="0"/>
              <a:t>('</a:t>
            </a:r>
            <a:r>
              <a:rPr lang="ru-RU" sz="1600" dirty="0"/>
              <a:t>Частые слова в негативных отзывах', </a:t>
            </a:r>
            <a:r>
              <a:rPr lang="en-US" sz="1600" dirty="0" err="1"/>
              <a:t>fontsize</a:t>
            </a:r>
            <a:r>
              <a:rPr lang="en-US" sz="1600" dirty="0"/>
              <a:t>=16)</a:t>
            </a:r>
          </a:p>
          <a:p>
            <a:r>
              <a:rPr lang="en-US" sz="1600" dirty="0" err="1"/>
              <a:t>plt.show</a:t>
            </a:r>
            <a:r>
              <a:rPr lang="en-US" sz="1600" dirty="0"/>
              <a:t>()</a:t>
            </a:r>
            <a:endParaRPr lang="ru-RU" sz="1600" dirty="0"/>
          </a:p>
        </p:txBody>
      </p:sp>
    </p:spTree>
    <p:extLst>
      <p:ext uri="{BB962C8B-B14F-4D97-AF65-F5344CB8AC3E}">
        <p14:creationId xmlns:p14="http://schemas.microsoft.com/office/powerpoint/2010/main" val="18280060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/>
          <p:cNvSpPr/>
          <p:nvPr/>
        </p:nvSpPr>
        <p:spPr>
          <a:xfrm>
            <a:off x="243767" y="339502"/>
            <a:ext cx="4572000" cy="461664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400" dirty="0"/>
              <a:t>for key, items in </a:t>
            </a:r>
            <a:r>
              <a:rPr lang="en-US" sz="1400" dirty="0" err="1"/>
              <a:t>optim_result.items</a:t>
            </a:r>
            <a:r>
              <a:rPr lang="en-US" sz="1400" dirty="0"/>
              <a:t>():</a:t>
            </a:r>
            <a:br>
              <a:rPr lang="en-US" sz="1400" dirty="0"/>
            </a:br>
            <a:r>
              <a:rPr lang="en-US" sz="1400" dirty="0"/>
              <a:t>    </a:t>
            </a:r>
            <a:r>
              <a:rPr lang="en-US" sz="1400" dirty="0" err="1"/>
              <a:t>feature_names</a:t>
            </a:r>
            <a:r>
              <a:rPr lang="en-US" sz="1400" dirty="0"/>
              <a:t> = items['</a:t>
            </a:r>
            <a:r>
              <a:rPr lang="en-US" sz="1400" dirty="0" err="1"/>
              <a:t>vectorizer</a:t>
            </a:r>
            <a:r>
              <a:rPr lang="en-US" sz="1400" dirty="0"/>
              <a:t>'].</a:t>
            </a:r>
            <a:r>
              <a:rPr lang="en-US" sz="1400" dirty="0" err="1"/>
              <a:t>get_feature_names_out</a:t>
            </a:r>
            <a:r>
              <a:rPr lang="en-US" sz="1400" dirty="0"/>
              <a:t>()</a:t>
            </a:r>
            <a:br>
              <a:rPr lang="en-US" sz="1400" dirty="0"/>
            </a:br>
            <a:r>
              <a:rPr lang="en-US" sz="1400" dirty="0"/>
              <a:t>    </a:t>
            </a:r>
            <a:r>
              <a:rPr lang="en-US" sz="1400" dirty="0" err="1"/>
              <a:t>coef</a:t>
            </a:r>
            <a:r>
              <a:rPr lang="en-US" sz="1400" dirty="0"/>
              <a:t> = items['estimator'].</a:t>
            </a:r>
            <a:r>
              <a:rPr lang="en-US" sz="1400" dirty="0" err="1"/>
              <a:t>coef</a:t>
            </a:r>
            <a:r>
              <a:rPr lang="en-US" sz="1400" dirty="0"/>
              <a:t>_[0]</a:t>
            </a:r>
            <a:br>
              <a:rPr lang="en-US" sz="1400" dirty="0"/>
            </a:br>
            <a:r>
              <a:rPr lang="en-US" sz="1400" dirty="0"/>
              <a:t>    </a:t>
            </a:r>
            <a:r>
              <a:rPr lang="en-US" sz="1400" dirty="0" err="1"/>
              <a:t>abs_coef</a:t>
            </a:r>
            <a:r>
              <a:rPr lang="en-US" sz="1400" dirty="0"/>
              <a:t> = </a:t>
            </a:r>
            <a:r>
              <a:rPr lang="en-US" sz="1400" dirty="0" err="1"/>
              <a:t>np.abs</a:t>
            </a:r>
            <a:r>
              <a:rPr lang="en-US" sz="1400" dirty="0"/>
              <a:t>(</a:t>
            </a:r>
            <a:r>
              <a:rPr lang="en-US" sz="1400" dirty="0" err="1"/>
              <a:t>coef.data</a:t>
            </a:r>
            <a:r>
              <a:rPr lang="en-US" sz="1400" dirty="0"/>
              <a:t>)</a:t>
            </a:r>
            <a:br>
              <a:rPr lang="en-US" sz="1400" dirty="0"/>
            </a:br>
            <a:r>
              <a:rPr lang="en-US" sz="1400" dirty="0"/>
              <a:t>    </a:t>
            </a:r>
            <a:r>
              <a:rPr lang="en-US" sz="1400" dirty="0" err="1"/>
              <a:t>top_indices</a:t>
            </a:r>
            <a:r>
              <a:rPr lang="en-US" sz="1400" dirty="0"/>
              <a:t> = </a:t>
            </a:r>
            <a:r>
              <a:rPr lang="en-US" sz="1400" dirty="0" err="1"/>
              <a:t>np.argsort</a:t>
            </a:r>
            <a:r>
              <a:rPr lang="en-US" sz="1400" dirty="0"/>
              <a:t>(</a:t>
            </a:r>
            <a:r>
              <a:rPr lang="en-US" sz="1400" dirty="0" err="1"/>
              <a:t>abs_coef</a:t>
            </a:r>
            <a:r>
              <a:rPr lang="en-US" sz="1400" dirty="0"/>
              <a:t>)[::-1][:40]</a:t>
            </a:r>
            <a:br>
              <a:rPr lang="en-US" sz="1400" dirty="0"/>
            </a:br>
            <a:r>
              <a:rPr lang="en-US" sz="1400" dirty="0"/>
              <a:t>    </a:t>
            </a:r>
            <a:r>
              <a:rPr lang="en-US" sz="1400" dirty="0" err="1"/>
              <a:t>neg</a:t>
            </a:r>
            <a:r>
              <a:rPr lang="en-US" sz="1400" dirty="0"/>
              <a:t> = []</a:t>
            </a:r>
            <a:br>
              <a:rPr lang="en-US" sz="1400" dirty="0"/>
            </a:br>
            <a:r>
              <a:rPr lang="en-US" sz="1400" dirty="0"/>
              <a:t>    </a:t>
            </a:r>
            <a:r>
              <a:rPr lang="en-US" sz="1400" dirty="0" err="1"/>
              <a:t>pos</a:t>
            </a:r>
            <a:r>
              <a:rPr lang="en-US" sz="1400" dirty="0"/>
              <a:t> = []</a:t>
            </a:r>
            <a:br>
              <a:rPr lang="en-US" sz="1400" dirty="0"/>
            </a:br>
            <a:r>
              <a:rPr lang="en-US" sz="1400" dirty="0"/>
              <a:t>    for </a:t>
            </a:r>
            <a:r>
              <a:rPr lang="en-US" sz="1400" dirty="0" err="1"/>
              <a:t>idx</a:t>
            </a:r>
            <a:r>
              <a:rPr lang="en-US" sz="1400" dirty="0"/>
              <a:t> in </a:t>
            </a:r>
            <a:r>
              <a:rPr lang="en-US" sz="1400" dirty="0" err="1"/>
              <a:t>top_indices</a:t>
            </a:r>
            <a:r>
              <a:rPr lang="en-US" sz="1400" dirty="0"/>
              <a:t>:</a:t>
            </a:r>
            <a:br>
              <a:rPr lang="en-US" sz="1400" dirty="0"/>
            </a:br>
            <a:r>
              <a:rPr lang="en-US" sz="1400" dirty="0"/>
              <a:t>        </a:t>
            </a:r>
            <a:r>
              <a:rPr lang="en-US" sz="1400" dirty="0" err="1"/>
              <a:t>orig_idx</a:t>
            </a:r>
            <a:r>
              <a:rPr lang="en-US" sz="1400" dirty="0"/>
              <a:t> = </a:t>
            </a:r>
            <a:r>
              <a:rPr lang="en-US" sz="1400" dirty="0" err="1"/>
              <a:t>coef.indices</a:t>
            </a:r>
            <a:r>
              <a:rPr lang="en-US" sz="1400" dirty="0"/>
              <a:t>[</a:t>
            </a:r>
            <a:r>
              <a:rPr lang="en-US" sz="1400" dirty="0" err="1"/>
              <a:t>idx</a:t>
            </a:r>
            <a:r>
              <a:rPr lang="en-US" sz="1400" dirty="0"/>
              <a:t>]</a:t>
            </a:r>
            <a:br>
              <a:rPr lang="en-US" sz="1400" dirty="0"/>
            </a:br>
            <a:r>
              <a:rPr lang="en-US" sz="1400" dirty="0"/>
              <a:t>        if </a:t>
            </a:r>
            <a:r>
              <a:rPr lang="en-US" sz="1400" dirty="0" err="1"/>
              <a:t>coef.data</a:t>
            </a:r>
            <a:r>
              <a:rPr lang="en-US" sz="1400" dirty="0"/>
              <a:t>[</a:t>
            </a:r>
            <a:r>
              <a:rPr lang="en-US" sz="1400" dirty="0" err="1"/>
              <a:t>idx</a:t>
            </a:r>
            <a:r>
              <a:rPr lang="en-US" sz="1400" dirty="0"/>
              <a:t>] &gt; 0:</a:t>
            </a:r>
            <a:br>
              <a:rPr lang="en-US" sz="1400" dirty="0"/>
            </a:br>
            <a:r>
              <a:rPr lang="en-US" sz="1400" dirty="0"/>
              <a:t>            </a:t>
            </a:r>
            <a:r>
              <a:rPr lang="en-US" sz="1400" dirty="0" err="1"/>
              <a:t>pos.append</a:t>
            </a:r>
            <a:r>
              <a:rPr lang="en-US" sz="1400" dirty="0"/>
              <a:t>(f'{</a:t>
            </a:r>
            <a:r>
              <a:rPr lang="en-US" sz="1400" dirty="0" err="1"/>
              <a:t>feature_names</a:t>
            </a:r>
            <a:r>
              <a:rPr lang="en-US" sz="1400" dirty="0"/>
              <a:t>[</a:t>
            </a:r>
            <a:r>
              <a:rPr lang="en-US" sz="1400" dirty="0" err="1"/>
              <a:t>orig_idx</a:t>
            </a:r>
            <a:r>
              <a:rPr lang="en-US" sz="1400" dirty="0"/>
              <a:t>]}: {</a:t>
            </a:r>
            <a:r>
              <a:rPr lang="en-US" sz="1400" dirty="0" err="1"/>
              <a:t>coef.data</a:t>
            </a:r>
            <a:r>
              <a:rPr lang="en-US" sz="1400" dirty="0"/>
              <a:t>[</a:t>
            </a:r>
            <a:r>
              <a:rPr lang="en-US" sz="1400" dirty="0" err="1"/>
              <a:t>idx</a:t>
            </a:r>
            <a:r>
              <a:rPr lang="en-US" sz="1400" dirty="0"/>
              <a:t>]:.4f}')</a:t>
            </a:r>
            <a:br>
              <a:rPr lang="en-US" sz="1400" dirty="0"/>
            </a:br>
            <a:r>
              <a:rPr lang="en-US" sz="1400" dirty="0"/>
              <a:t>        else:</a:t>
            </a:r>
            <a:br>
              <a:rPr lang="en-US" sz="1400" dirty="0"/>
            </a:br>
            <a:r>
              <a:rPr lang="en-US" sz="1400" dirty="0"/>
              <a:t>            </a:t>
            </a:r>
            <a:r>
              <a:rPr lang="en-US" sz="1400" dirty="0" err="1"/>
              <a:t>neg.append</a:t>
            </a:r>
            <a:r>
              <a:rPr lang="en-US" sz="1400" dirty="0"/>
              <a:t>(f'{</a:t>
            </a:r>
            <a:r>
              <a:rPr lang="en-US" sz="1400" dirty="0" err="1"/>
              <a:t>feature_names</a:t>
            </a:r>
            <a:r>
              <a:rPr lang="en-US" sz="1400" dirty="0"/>
              <a:t>[</a:t>
            </a:r>
            <a:r>
              <a:rPr lang="en-US" sz="1400" dirty="0" err="1"/>
              <a:t>orig_idx</a:t>
            </a:r>
            <a:r>
              <a:rPr lang="en-US" sz="1400" dirty="0"/>
              <a:t>]}: {</a:t>
            </a:r>
            <a:r>
              <a:rPr lang="en-US" sz="1400" dirty="0" err="1"/>
              <a:t>coef.data</a:t>
            </a:r>
            <a:r>
              <a:rPr lang="en-US" sz="1400" dirty="0"/>
              <a:t>[</a:t>
            </a:r>
            <a:r>
              <a:rPr lang="en-US" sz="1400" dirty="0" err="1"/>
              <a:t>idx</a:t>
            </a:r>
            <a:r>
              <a:rPr lang="en-US" sz="1400" dirty="0"/>
              <a:t>]:.4f}')</a:t>
            </a:r>
            <a:br>
              <a:rPr lang="en-US" sz="1400" dirty="0"/>
            </a:br>
            <a:r>
              <a:rPr lang="en-US" sz="1400" dirty="0"/>
              <a:t>    </a:t>
            </a:r>
            <a:r>
              <a:rPr lang="en-US" sz="1400" dirty="0" err="1"/>
              <a:t>df</a:t>
            </a:r>
            <a:r>
              <a:rPr lang="en-US" sz="1400" dirty="0"/>
              <a:t>[(key, '</a:t>
            </a:r>
            <a:r>
              <a:rPr lang="ru-RU" sz="1400" dirty="0"/>
              <a:t>Негативные')] = </a:t>
            </a:r>
            <a:r>
              <a:rPr lang="en-US" sz="1400" dirty="0" err="1"/>
              <a:t>pd.Series</a:t>
            </a:r>
            <a:r>
              <a:rPr lang="en-US" sz="1400" dirty="0"/>
              <a:t>(</a:t>
            </a:r>
            <a:r>
              <a:rPr lang="en-US" sz="1400" dirty="0" err="1"/>
              <a:t>neg</a:t>
            </a:r>
            <a:r>
              <a:rPr lang="en-US" sz="1400" dirty="0"/>
              <a:t>)</a:t>
            </a:r>
            <a:br>
              <a:rPr lang="en-US" sz="1400" dirty="0"/>
            </a:br>
            <a:r>
              <a:rPr lang="en-US" sz="1400" dirty="0"/>
              <a:t>    </a:t>
            </a:r>
            <a:r>
              <a:rPr lang="en-US" sz="1400" dirty="0" err="1"/>
              <a:t>df</a:t>
            </a:r>
            <a:r>
              <a:rPr lang="en-US" sz="1400" dirty="0"/>
              <a:t>[(key, '</a:t>
            </a:r>
            <a:r>
              <a:rPr lang="ru-RU" sz="1400" dirty="0"/>
              <a:t>Позитивные')] = </a:t>
            </a:r>
            <a:r>
              <a:rPr lang="en-US" sz="1400" dirty="0" err="1"/>
              <a:t>pd.Series</a:t>
            </a:r>
            <a:r>
              <a:rPr lang="en-US" sz="1400" dirty="0"/>
              <a:t>(</a:t>
            </a:r>
            <a:r>
              <a:rPr lang="en-US" sz="1400" dirty="0" err="1"/>
              <a:t>pos</a:t>
            </a:r>
            <a:r>
              <a:rPr lang="en-US" sz="1400" dirty="0"/>
              <a:t>)</a:t>
            </a:r>
            <a:br>
              <a:rPr lang="en-US" sz="1400" dirty="0"/>
            </a:br>
            <a:r>
              <a:rPr lang="en-US" sz="1400" dirty="0"/>
              <a:t/>
            </a:r>
            <a:br>
              <a:rPr lang="en-US" sz="1400" dirty="0"/>
            </a:br>
            <a:r>
              <a:rPr lang="en-US" sz="1400" dirty="0"/>
              <a:t>print('</a:t>
            </a:r>
            <a:r>
              <a:rPr lang="ru-RU" sz="1400" dirty="0"/>
              <a:t>Самые важные слова для классификации:')</a:t>
            </a:r>
            <a:br>
              <a:rPr lang="ru-RU" sz="1400" dirty="0"/>
            </a:br>
            <a:r>
              <a:rPr lang="en-US" sz="1400" dirty="0"/>
              <a:t>display(</a:t>
            </a:r>
            <a:r>
              <a:rPr lang="en-US" sz="1400" dirty="0" err="1"/>
              <a:t>df</a:t>
            </a:r>
            <a:r>
              <a:rPr lang="en-US" sz="1400" dirty="0"/>
              <a:t>)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7944" y="762178"/>
            <a:ext cx="4791199" cy="40176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47771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17934"/>
            <a:ext cx="3997046" cy="50230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76558" y="364386"/>
            <a:ext cx="5095362" cy="43592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04515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35</TotalTime>
  <Words>407</Words>
  <Application>Microsoft Office PowerPoint</Application>
  <PresentationFormat>Экран (16:9)</PresentationFormat>
  <Paragraphs>92</Paragraphs>
  <Slides>16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16</vt:i4>
      </vt:variant>
    </vt:vector>
  </HeadingPairs>
  <TitlesOfParts>
    <vt:vector size="17" baseType="lpstr">
      <vt:lpstr>Тема Office</vt:lpstr>
      <vt:lpstr>Обработка естественного языка (NLP) на примере классификации отзывов клиники</vt:lpstr>
      <vt:lpstr>Цель работы</vt:lpstr>
      <vt:lpstr>Используемые инструменты и данные</vt:lpstr>
      <vt:lpstr>Этапы обработки данных</vt:lpstr>
      <vt:lpstr>Выбор модели и обучение</vt:lpstr>
      <vt:lpstr>Результаты</vt:lpstr>
      <vt:lpstr>Интерпретация метрик классификации</vt:lpstr>
      <vt:lpstr>Код – Предобработка текста</vt:lpstr>
      <vt:lpstr>Код – Векторизация текста</vt:lpstr>
      <vt:lpstr>Код – Обучение модели классификации</vt:lpstr>
      <vt:lpstr>Код – Оценка качества модели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Обработка естественного языка (NLP) на примере классификации отзывов клиники</dc:title>
  <dc:creator>Евгений МС.</dc:creator>
  <cp:lastModifiedBy>Евгений МС.</cp:lastModifiedBy>
  <cp:revision>18</cp:revision>
  <dcterms:created xsi:type="dcterms:W3CDTF">2025-08-05T18:09:15Z</dcterms:created>
  <dcterms:modified xsi:type="dcterms:W3CDTF">2025-08-06T07:13:19Z</dcterms:modified>
</cp:coreProperties>
</file>