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85" r:id="rId5"/>
    <p:sldId id="286" r:id="rId6"/>
    <p:sldId id="287" r:id="rId7"/>
    <p:sldId id="288" r:id="rId8"/>
    <p:sldId id="259" r:id="rId9"/>
    <p:sldId id="261" r:id="rId10"/>
    <p:sldId id="262" r:id="rId11"/>
    <p:sldId id="284" r:id="rId12"/>
    <p:sldId id="289" r:id="rId13"/>
    <p:sldId id="264" r:id="rId14"/>
    <p:sldId id="265" r:id="rId15"/>
    <p:sldId id="267" r:id="rId16"/>
    <p:sldId id="266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42" y="-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428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306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857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191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160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87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1263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29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055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782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828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970B4-A3AF-4720-A0F0-0CEEFEBA19DD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19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123478"/>
            <a:ext cx="8712968" cy="151216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Обработка временных рядов на примере поиска аномалий в синхронизации конфигураций университета</a:t>
            </a:r>
            <a:endParaRPr lang="ru-RU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7504" y="4299942"/>
            <a:ext cx="8928992" cy="594370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Преподаватель: </a:t>
            </a:r>
            <a:r>
              <a:rPr lang="ru-RU" dirty="0" err="1" smtClean="0">
                <a:solidFill>
                  <a:schemeClr val="tx1"/>
                </a:solidFill>
              </a:rPr>
              <a:t>Мытарин</a:t>
            </a:r>
            <a:r>
              <a:rPr lang="ru-RU" dirty="0" smtClean="0">
                <a:solidFill>
                  <a:schemeClr val="tx1"/>
                </a:solidFill>
              </a:rPr>
              <a:t> Евгений Сергеевич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707654"/>
            <a:ext cx="4320480" cy="257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6736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Цель работы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Разработка модели прогнозирования временных рядов для выявления аномалий в данных синхронизации конфигураций.</a:t>
            </a:r>
          </a:p>
          <a:p>
            <a:r>
              <a:rPr lang="ru-RU" dirty="0"/>
              <a:t>Анализ отклонений от нормального поведения системы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9817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Используемые инструменты и данные</a:t>
            </a:r>
            <a:endParaRPr lang="ru-RU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Язык программирования</a:t>
            </a:r>
            <a:r>
              <a:rPr lang="ru-RU" dirty="0"/>
              <a:t>: </a:t>
            </a:r>
            <a:r>
              <a:rPr lang="en-US" dirty="0"/>
              <a:t>Python</a:t>
            </a:r>
          </a:p>
          <a:p>
            <a:r>
              <a:rPr lang="ru-RU" b="1" dirty="0"/>
              <a:t>Библиотеки</a:t>
            </a:r>
            <a:r>
              <a:rPr lang="ru-RU" dirty="0"/>
              <a:t>: </a:t>
            </a:r>
            <a:r>
              <a:rPr lang="en-US" dirty="0" err="1" smtClean="0"/>
              <a:t>scikit</a:t>
            </a:r>
            <a:r>
              <a:rPr lang="en-US" dirty="0" smtClean="0"/>
              <a:t>-learn</a:t>
            </a:r>
            <a:r>
              <a:rPr lang="en-US" dirty="0"/>
              <a:t>, pandas, </a:t>
            </a:r>
            <a:r>
              <a:rPr lang="en-US" dirty="0" err="1" smtClean="0"/>
              <a:t>matplotlib</a:t>
            </a:r>
            <a:endParaRPr lang="en-US" dirty="0"/>
          </a:p>
          <a:p>
            <a:r>
              <a:rPr lang="ru-RU" b="1" dirty="0"/>
              <a:t>Данные</a:t>
            </a:r>
            <a:r>
              <a:rPr lang="ru-RU" dirty="0"/>
              <a:t>: </a:t>
            </a:r>
            <a:r>
              <a:rPr lang="ru-RU" dirty="0" err="1"/>
              <a:t>Датасет</a:t>
            </a:r>
            <a:r>
              <a:rPr lang="ru-RU" dirty="0"/>
              <a:t> </a:t>
            </a:r>
            <a:r>
              <a:rPr lang="ru-RU" dirty="0" smtClean="0"/>
              <a:t>с данными синхронизации конфигураций </a:t>
            </a:r>
            <a:r>
              <a:rPr lang="ru-RU" dirty="0" smtClean="0"/>
              <a:t>университета; </a:t>
            </a:r>
            <a:r>
              <a:rPr lang="ru-RU" dirty="0" err="1" smtClean="0"/>
              <a:t>Датасет</a:t>
            </a: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8084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1471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Что такое временной ряд?</a:t>
            </a:r>
            <a:endParaRPr lang="ru-RU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699542"/>
            <a:ext cx="8496944" cy="41764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b="1" dirty="0"/>
              <a:t>Временной ряд </a:t>
            </a:r>
            <a:r>
              <a:rPr lang="ru-RU" sz="1200" dirty="0"/>
              <a:t>– это последовательность данных, измеренных в последовательные моменты времени. Каждое наблюдение зависит от времени, что позволяет анализировать динамику изменений.</a:t>
            </a:r>
          </a:p>
          <a:p>
            <a:endParaRPr lang="ru-RU" sz="1200" b="1" dirty="0" smtClean="0"/>
          </a:p>
          <a:p>
            <a:pPr marL="0" indent="0">
              <a:buNone/>
            </a:pPr>
            <a:r>
              <a:rPr lang="ru-RU" sz="1200" b="1" dirty="0" smtClean="0"/>
              <a:t>Ключевые </a:t>
            </a:r>
            <a:r>
              <a:rPr lang="ru-RU" sz="1200" b="1" dirty="0"/>
              <a:t>особенности</a:t>
            </a:r>
            <a:endParaRPr lang="ru-RU" sz="1200" dirty="0"/>
          </a:p>
          <a:p>
            <a:r>
              <a:rPr lang="ru-RU" sz="1200" b="1" dirty="0"/>
              <a:t>Упорядоченность</a:t>
            </a:r>
            <a:r>
              <a:rPr lang="ru-RU" sz="1200" dirty="0"/>
              <a:t> – данные записаны в хронологическом порядке.</a:t>
            </a:r>
          </a:p>
          <a:p>
            <a:r>
              <a:rPr lang="ru-RU" sz="1200" b="1" dirty="0"/>
              <a:t>Зависимость от времени</a:t>
            </a:r>
            <a:r>
              <a:rPr lang="ru-RU" sz="1200" dirty="0"/>
              <a:t> – текущие значения могут зависеть от предыдущих.</a:t>
            </a:r>
          </a:p>
          <a:p>
            <a:r>
              <a:rPr lang="ru-RU" sz="1200" b="1" dirty="0"/>
              <a:t>Наличие закономерностей</a:t>
            </a:r>
            <a:r>
              <a:rPr lang="ru-RU" sz="1200" dirty="0"/>
              <a:t> – тренды, сезонность, циклы.</a:t>
            </a:r>
          </a:p>
          <a:p>
            <a:endParaRPr lang="ru-RU" sz="1200" b="1" dirty="0" smtClean="0"/>
          </a:p>
          <a:p>
            <a:pPr marL="0" indent="0">
              <a:buNone/>
            </a:pPr>
            <a:r>
              <a:rPr lang="ru-RU" sz="1200" b="1" dirty="0" smtClean="0"/>
              <a:t>Примеры </a:t>
            </a:r>
            <a:r>
              <a:rPr lang="ru-RU" sz="1200" b="1" dirty="0"/>
              <a:t>временных рядов</a:t>
            </a:r>
            <a:endParaRPr lang="ru-RU" sz="1200" dirty="0"/>
          </a:p>
          <a:p>
            <a:r>
              <a:rPr lang="ru-RU" sz="1200" b="1" dirty="0"/>
              <a:t>Экономика</a:t>
            </a:r>
            <a:r>
              <a:rPr lang="ru-RU" sz="1200" dirty="0"/>
              <a:t>: курс акций, ВВП, инфляция.</a:t>
            </a:r>
          </a:p>
          <a:p>
            <a:r>
              <a:rPr lang="ru-RU" sz="1200" b="1" dirty="0"/>
              <a:t>Бизнес</a:t>
            </a:r>
            <a:r>
              <a:rPr lang="ru-RU" sz="1200" dirty="0"/>
              <a:t>: продажи товаров, трафик на сайте.</a:t>
            </a:r>
          </a:p>
          <a:p>
            <a:r>
              <a:rPr lang="ru-RU" sz="1200" b="1" dirty="0"/>
              <a:t>Метеорология</a:t>
            </a:r>
            <a:r>
              <a:rPr lang="ru-RU" sz="1200" dirty="0"/>
              <a:t>: температура воздуха, осадки.</a:t>
            </a:r>
          </a:p>
          <a:p>
            <a:r>
              <a:rPr lang="ru-RU" sz="1200" b="1" dirty="0"/>
              <a:t>Медицина</a:t>
            </a:r>
            <a:r>
              <a:rPr lang="ru-RU" sz="1200" dirty="0"/>
              <a:t>: пульс пациента, динамика заболеваемости.</a:t>
            </a:r>
          </a:p>
          <a:p>
            <a:endParaRPr lang="ru-RU" sz="1200" b="1" dirty="0" smtClean="0"/>
          </a:p>
          <a:p>
            <a:pPr marL="0" indent="0">
              <a:buNone/>
            </a:pPr>
            <a:r>
              <a:rPr lang="ru-RU" sz="1200" b="1" dirty="0" smtClean="0"/>
              <a:t>Задачи </a:t>
            </a:r>
            <a:r>
              <a:rPr lang="ru-RU" sz="1200" b="1" dirty="0"/>
              <a:t>анализа временных рядов</a:t>
            </a:r>
            <a:endParaRPr lang="ru-RU" sz="1200" dirty="0"/>
          </a:p>
          <a:p>
            <a:r>
              <a:rPr lang="ru-RU" sz="1200" dirty="0"/>
              <a:t>Описание структуры (тренд, сезонность, шум).</a:t>
            </a:r>
          </a:p>
          <a:p>
            <a:r>
              <a:rPr lang="ru-RU" sz="1200" dirty="0"/>
              <a:t>Прогнозирование будущих значений.</a:t>
            </a:r>
          </a:p>
          <a:p>
            <a:r>
              <a:rPr lang="ru-RU" sz="1200" dirty="0"/>
              <a:t>Выявление аномалий (резкие изменения, выбросы).</a:t>
            </a:r>
          </a:p>
          <a:p>
            <a:r>
              <a:rPr lang="ru-RU" sz="1200" dirty="0"/>
              <a:t>Построение моделей для понимания зависимостей</a:t>
            </a:r>
            <a:r>
              <a:rPr lang="ru-RU" sz="1200" dirty="0" smtClean="0"/>
              <a:t>.</a:t>
            </a:r>
            <a:endParaRPr lang="ru-RU" sz="1200" dirty="0"/>
          </a:p>
        </p:txBody>
      </p:sp>
      <p:pic>
        <p:nvPicPr>
          <p:cNvPr id="1028" name="Picture 4" descr="Анализ временных рядов с помощью python / Хаб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475" y="2283718"/>
            <a:ext cx="4071611" cy="2139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96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1471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Компоненты временного ряда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627534"/>
            <a:ext cx="4824536" cy="4176464"/>
          </a:xfrm>
        </p:spPr>
        <p:txBody>
          <a:bodyPr>
            <a:noAutofit/>
          </a:bodyPr>
          <a:lstStyle/>
          <a:p>
            <a:r>
              <a:rPr lang="ru-RU" sz="1200" b="1" dirty="0"/>
              <a:t>1. Тренд (</a:t>
            </a:r>
            <a:r>
              <a:rPr lang="ru-RU" sz="1200" b="1" dirty="0" err="1" smtClean="0"/>
              <a:t>Trend</a:t>
            </a:r>
            <a:r>
              <a:rPr lang="ru-RU" sz="1200" b="1" dirty="0" smtClean="0"/>
              <a:t>) -</a:t>
            </a:r>
            <a:r>
              <a:rPr lang="ru-RU" sz="1200" dirty="0" smtClean="0"/>
              <a:t> Долгосрочная </a:t>
            </a:r>
            <a:r>
              <a:rPr lang="ru-RU" sz="1200" dirty="0"/>
              <a:t>направленная тенденция (рост, спад или стабильность).</a:t>
            </a:r>
          </a:p>
          <a:p>
            <a:r>
              <a:rPr lang="ru-RU" sz="1200" b="1" dirty="0"/>
              <a:t>Примеры</a:t>
            </a:r>
            <a:r>
              <a:rPr lang="ru-RU" sz="1200" dirty="0"/>
              <a:t>:</a:t>
            </a:r>
          </a:p>
          <a:p>
            <a:pPr lvl="1"/>
            <a:r>
              <a:rPr lang="ru-RU" sz="1100" dirty="0"/>
              <a:t>Увеличение продаж компании за несколько лет.</a:t>
            </a:r>
          </a:p>
          <a:p>
            <a:pPr lvl="1"/>
            <a:r>
              <a:rPr lang="ru-RU" sz="1100" dirty="0"/>
              <a:t>Глобальное потепление (рост средней температуры).</a:t>
            </a:r>
          </a:p>
          <a:p>
            <a:r>
              <a:rPr lang="ru-RU" sz="1200" b="1" dirty="0" smtClean="0"/>
              <a:t>2</a:t>
            </a:r>
            <a:r>
              <a:rPr lang="ru-RU" sz="1200" b="1" dirty="0"/>
              <a:t>. Сезонность </a:t>
            </a:r>
            <a:r>
              <a:rPr lang="ru-RU" sz="1200" b="1" dirty="0" smtClean="0"/>
              <a:t>(</a:t>
            </a:r>
            <a:r>
              <a:rPr lang="en-US" sz="1200" b="1" dirty="0" smtClean="0"/>
              <a:t>Seasonal</a:t>
            </a:r>
            <a:r>
              <a:rPr lang="ru-RU" sz="1200" b="1" dirty="0" smtClean="0"/>
              <a:t>) - </a:t>
            </a:r>
            <a:r>
              <a:rPr lang="ru-RU" sz="1200" dirty="0"/>
              <a:t>Периодические колебания с фиксированной частотой (день, месяц, год).</a:t>
            </a:r>
          </a:p>
          <a:p>
            <a:r>
              <a:rPr lang="ru-RU" sz="1200" b="1" dirty="0" smtClean="0"/>
              <a:t>Примеры</a:t>
            </a:r>
            <a:r>
              <a:rPr lang="ru-RU" sz="1200" dirty="0"/>
              <a:t>:</a:t>
            </a:r>
          </a:p>
          <a:p>
            <a:pPr lvl="1"/>
            <a:r>
              <a:rPr lang="ru-RU" sz="1100" dirty="0"/>
              <a:t>Рост продаж зимней одежды в холодные месяцы.</a:t>
            </a:r>
          </a:p>
          <a:p>
            <a:pPr lvl="1"/>
            <a:r>
              <a:rPr lang="ru-RU" sz="1100" dirty="0"/>
              <a:t>Суточные колебания нагрузки на электросеть.</a:t>
            </a:r>
          </a:p>
          <a:p>
            <a:r>
              <a:rPr lang="ru-RU" sz="1200" b="1" dirty="0" smtClean="0"/>
              <a:t>3. Цикличность (</a:t>
            </a:r>
            <a:r>
              <a:rPr lang="ru-RU" sz="1200" b="1" dirty="0" err="1" smtClean="0"/>
              <a:t>Cyclical</a:t>
            </a:r>
            <a:r>
              <a:rPr lang="ru-RU" sz="1200" b="1" dirty="0" smtClean="0"/>
              <a:t>) - </a:t>
            </a:r>
            <a:r>
              <a:rPr lang="ru-RU" sz="1200" dirty="0" smtClean="0"/>
              <a:t>Колебания без строгой периодичности (длительность &gt; 1 года).</a:t>
            </a:r>
          </a:p>
          <a:p>
            <a:r>
              <a:rPr lang="ru-RU" sz="1200" b="1" dirty="0" smtClean="0"/>
              <a:t>Примеры</a:t>
            </a:r>
            <a:r>
              <a:rPr lang="ru-RU" sz="1200" dirty="0"/>
              <a:t>:</a:t>
            </a:r>
          </a:p>
          <a:p>
            <a:pPr lvl="1"/>
            <a:r>
              <a:rPr lang="ru-RU" sz="1100" dirty="0"/>
              <a:t>Экономические циклы (кризисы, подъемы).</a:t>
            </a:r>
          </a:p>
          <a:p>
            <a:pPr lvl="1"/>
            <a:r>
              <a:rPr lang="ru-RU" sz="1100" dirty="0"/>
              <a:t>Долгосрочные изменения спроса на нефть.</a:t>
            </a:r>
          </a:p>
          <a:p>
            <a:r>
              <a:rPr lang="ru-RU" sz="1200" b="1" dirty="0"/>
              <a:t>Отличие от сезонности</a:t>
            </a:r>
            <a:r>
              <a:rPr lang="ru-RU" sz="1200" dirty="0"/>
              <a:t>: Нет фиксированного периода.</a:t>
            </a:r>
          </a:p>
          <a:p>
            <a:r>
              <a:rPr lang="ru-RU" sz="1200" b="1" dirty="0"/>
              <a:t>4. </a:t>
            </a:r>
            <a:r>
              <a:rPr lang="ru-RU" sz="1200" b="1" dirty="0" smtClean="0"/>
              <a:t>Случайная составляющая (</a:t>
            </a:r>
            <a:r>
              <a:rPr lang="en-US" sz="1200" b="1" dirty="0" smtClean="0"/>
              <a:t>Irregular fluctuation</a:t>
            </a:r>
            <a:r>
              <a:rPr lang="ru-RU" sz="1200" b="1" dirty="0" smtClean="0"/>
              <a:t>)</a:t>
            </a:r>
            <a:r>
              <a:rPr lang="en-US" sz="1200" b="1" dirty="0" smtClean="0"/>
              <a:t>- </a:t>
            </a:r>
            <a:r>
              <a:rPr lang="ru-RU" sz="1200" dirty="0"/>
              <a:t>Нерегулярные колебания, не объясняемые трендом/сезонностью.</a:t>
            </a:r>
          </a:p>
          <a:p>
            <a:r>
              <a:rPr lang="ru-RU" sz="1200" b="1" dirty="0" smtClean="0"/>
              <a:t>Причины</a:t>
            </a:r>
            <a:r>
              <a:rPr lang="ru-RU" sz="1200" dirty="0"/>
              <a:t>:</a:t>
            </a:r>
          </a:p>
          <a:p>
            <a:pPr lvl="1"/>
            <a:r>
              <a:rPr lang="ru-RU" sz="1100" dirty="0"/>
              <a:t>Ошибки измерений.</a:t>
            </a:r>
          </a:p>
          <a:p>
            <a:pPr lvl="1"/>
            <a:r>
              <a:rPr lang="ru-RU" sz="1100" dirty="0"/>
              <a:t>Внешние шоки (например, пандемия для продаж</a:t>
            </a:r>
            <a:r>
              <a:rPr lang="ru-RU" sz="1100" dirty="0" smtClean="0"/>
              <a:t>).</a:t>
            </a:r>
            <a:endParaRPr lang="ru-RU" sz="1100" dirty="0"/>
          </a:p>
        </p:txBody>
      </p:sp>
      <p:pic>
        <p:nvPicPr>
          <p:cNvPr id="2050" name="Picture 2" descr="D:\Eugeny\Temp\time_series_components_ne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714" y="1768705"/>
            <a:ext cx="4252584" cy="2142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166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0986" y="627534"/>
            <a:ext cx="8885510" cy="43924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/>
              <a:t>Ряд считается </a:t>
            </a:r>
            <a:r>
              <a:rPr lang="ru-RU" sz="1400" b="1" i="1" dirty="0"/>
              <a:t>стационарным</a:t>
            </a:r>
            <a:r>
              <a:rPr lang="ru-RU" sz="1400" dirty="0"/>
              <a:t>, если его статистические свойства (среднее, дисперсия, автокорреляция) </a:t>
            </a:r>
            <a:r>
              <a:rPr lang="ru-RU" sz="1400" b="1" dirty="0"/>
              <a:t>не меняются</a:t>
            </a:r>
            <a:r>
              <a:rPr lang="ru-RU" sz="1400" dirty="0"/>
              <a:t> со временем.</a:t>
            </a:r>
          </a:p>
          <a:p>
            <a:pPr marL="0" indent="0">
              <a:buNone/>
            </a:pPr>
            <a:r>
              <a:rPr lang="ru-RU" sz="1400" b="1" dirty="0"/>
              <a:t>Критерии</a:t>
            </a:r>
            <a:r>
              <a:rPr lang="ru-RU" sz="1400" dirty="0"/>
              <a:t>:</a:t>
            </a:r>
          </a:p>
          <a:p>
            <a:pPr lvl="1"/>
            <a:r>
              <a:rPr lang="ru-RU" sz="1100" dirty="0"/>
              <a:t>Постоянное среднее (нет тренда</a:t>
            </a:r>
            <a:r>
              <a:rPr lang="ru-RU" sz="1100" dirty="0" smtClean="0"/>
              <a:t>).</a:t>
            </a:r>
            <a:endParaRPr lang="ru-RU" sz="1100" dirty="0"/>
          </a:p>
          <a:p>
            <a:pPr lvl="1"/>
            <a:r>
              <a:rPr lang="ru-RU" sz="1100" dirty="0"/>
              <a:t>Постоянная дисперсия (нет разброса).</a:t>
            </a:r>
          </a:p>
          <a:p>
            <a:pPr lvl="1"/>
            <a:r>
              <a:rPr lang="ru-RU" sz="1100" dirty="0"/>
              <a:t>Автокорреляция зависит только от лага, а не от времени.</a:t>
            </a:r>
          </a:p>
          <a:p>
            <a:pPr marL="0" indent="0">
              <a:buNone/>
            </a:pPr>
            <a:r>
              <a:rPr lang="ru-RU" sz="1400" b="1" dirty="0"/>
              <a:t>Почему это важно?</a:t>
            </a:r>
            <a:endParaRPr lang="ru-RU" sz="1400" dirty="0"/>
          </a:p>
          <a:p>
            <a:r>
              <a:rPr lang="ru-RU" sz="1400" dirty="0"/>
              <a:t>Большинство моделей (ARIMA, регрессия) требуют стационарности.</a:t>
            </a:r>
          </a:p>
          <a:p>
            <a:r>
              <a:rPr lang="ru-RU" sz="1400" dirty="0"/>
              <a:t>Нестационарные ряды дают </a:t>
            </a:r>
            <a:r>
              <a:rPr lang="ru-RU" sz="1400" b="1" dirty="0"/>
              <a:t>ложные корреляции</a:t>
            </a:r>
            <a:r>
              <a:rPr lang="ru-RU" sz="1400" dirty="0"/>
              <a:t> и ненадежные прогнозы.</a:t>
            </a:r>
          </a:p>
          <a:p>
            <a:pPr marL="0" indent="0">
              <a:buNone/>
            </a:pPr>
            <a:r>
              <a:rPr lang="ru-RU" sz="1400" b="1" dirty="0"/>
              <a:t>Как проверить?</a:t>
            </a:r>
            <a:endParaRPr lang="ru-RU" sz="1400" dirty="0"/>
          </a:p>
          <a:p>
            <a:r>
              <a:rPr lang="ru-RU" sz="1400" b="1" dirty="0"/>
              <a:t>Визуально</a:t>
            </a:r>
            <a:r>
              <a:rPr lang="ru-RU" sz="1400" dirty="0"/>
              <a:t>: График без явного тренда/изменчивости</a:t>
            </a:r>
            <a:r>
              <a:rPr lang="ru-RU" sz="1400" dirty="0" smtClean="0"/>
              <a:t>.</a:t>
            </a:r>
            <a:endParaRPr lang="ru-RU" sz="1400" dirty="0"/>
          </a:p>
          <a:p>
            <a:pPr marL="0" indent="0">
              <a:buNone/>
            </a:pPr>
            <a:r>
              <a:rPr lang="ru-RU" sz="1400" b="1" dirty="0"/>
              <a:t>Тесты</a:t>
            </a:r>
            <a:r>
              <a:rPr lang="ru-RU" sz="1400" dirty="0"/>
              <a:t>:</a:t>
            </a:r>
          </a:p>
          <a:p>
            <a:pPr lvl="1"/>
            <a:r>
              <a:rPr lang="ru-RU" sz="1100" b="1" dirty="0"/>
              <a:t>ADF-тест</a:t>
            </a:r>
            <a:r>
              <a:rPr lang="ru-RU" sz="1100" dirty="0"/>
              <a:t> (</a:t>
            </a:r>
            <a:r>
              <a:rPr lang="ru-RU" sz="1100" dirty="0" err="1"/>
              <a:t>Augmented</a:t>
            </a:r>
            <a:r>
              <a:rPr lang="ru-RU" sz="1100" dirty="0"/>
              <a:t> </a:t>
            </a:r>
            <a:r>
              <a:rPr lang="ru-RU" sz="1100" dirty="0" err="1"/>
              <a:t>Dickey-Fuller</a:t>
            </a:r>
            <a:r>
              <a:rPr lang="ru-RU" sz="1100" dirty="0"/>
              <a:t>) – если p-</a:t>
            </a:r>
            <a:r>
              <a:rPr lang="ru-RU" sz="1100" dirty="0" err="1"/>
              <a:t>value</a:t>
            </a:r>
            <a:r>
              <a:rPr lang="ru-RU" sz="1100" dirty="0"/>
              <a:t> &lt; 0.05, ряд стационарен.</a:t>
            </a:r>
          </a:p>
          <a:p>
            <a:pPr lvl="1"/>
            <a:r>
              <a:rPr lang="ru-RU" sz="1100" b="1" dirty="0"/>
              <a:t>KPSS-тест</a:t>
            </a:r>
            <a:r>
              <a:rPr lang="ru-RU" sz="1100" dirty="0"/>
              <a:t> – обратная логика (p-</a:t>
            </a:r>
            <a:r>
              <a:rPr lang="ru-RU" sz="1100" dirty="0" err="1"/>
              <a:t>value</a:t>
            </a:r>
            <a:r>
              <a:rPr lang="ru-RU" sz="1100" dirty="0"/>
              <a:t> &gt; 0.05 → стационарность).</a:t>
            </a:r>
          </a:p>
          <a:p>
            <a:pPr marL="0" indent="0">
              <a:buNone/>
            </a:pPr>
            <a:r>
              <a:rPr lang="ru-RU" sz="1400" b="1" dirty="0"/>
              <a:t>Что делать, если ряд нестационарный?</a:t>
            </a:r>
            <a:endParaRPr lang="ru-RU" sz="1400" dirty="0"/>
          </a:p>
          <a:p>
            <a:r>
              <a:rPr lang="ru-RU" sz="1400" b="1" dirty="0"/>
              <a:t>Дифференцирование</a:t>
            </a:r>
            <a:r>
              <a:rPr lang="ru-RU" sz="1400" dirty="0"/>
              <a:t> (вычитание предыдущего значения).</a:t>
            </a:r>
          </a:p>
          <a:p>
            <a:r>
              <a:rPr lang="ru-RU" sz="1400" b="1" dirty="0"/>
              <a:t>Логарифмирование</a:t>
            </a:r>
            <a:r>
              <a:rPr lang="ru-RU" sz="1400" dirty="0"/>
              <a:t> (если непостоянная дисперсия).</a:t>
            </a:r>
          </a:p>
          <a:p>
            <a:r>
              <a:rPr lang="ru-RU" sz="1400" b="1" dirty="0"/>
              <a:t>Декомпозиция</a:t>
            </a:r>
            <a:r>
              <a:rPr lang="ru-RU" sz="1400" dirty="0"/>
              <a:t> (удаление тренда/сезонности).</a:t>
            </a:r>
          </a:p>
          <a:p>
            <a:endParaRPr lang="ru-RU" sz="1400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7544" y="51471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Стационарность временного </a:t>
            </a: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ряда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203598"/>
            <a:ext cx="2524125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3102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0986" y="627534"/>
            <a:ext cx="8885510" cy="43924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/>
              <a:t>1. Основные визуальные признаки стационарного ряда</a:t>
            </a:r>
            <a:endParaRPr lang="ru-RU" sz="1600" dirty="0"/>
          </a:p>
          <a:p>
            <a:r>
              <a:rPr lang="ru-RU" sz="1600" b="1" dirty="0"/>
              <a:t>Горизонтальный тренд</a:t>
            </a:r>
            <a:r>
              <a:rPr lang="ru-RU" sz="1600" dirty="0"/>
              <a:t>: Среднее значение не изменяется со временем</a:t>
            </a:r>
          </a:p>
          <a:p>
            <a:r>
              <a:rPr lang="ru-RU" sz="1600" b="1" dirty="0"/>
              <a:t>Постоянная дисперсия</a:t>
            </a:r>
            <a:r>
              <a:rPr lang="ru-RU" sz="1600" dirty="0"/>
              <a:t>: Разброс данных остается примерно одинаковым</a:t>
            </a:r>
          </a:p>
          <a:p>
            <a:r>
              <a:rPr lang="ru-RU" sz="1600" b="1" dirty="0"/>
              <a:t>Отсутствие явной сезонности</a:t>
            </a:r>
            <a:r>
              <a:rPr lang="ru-RU" sz="1600" dirty="0"/>
              <a:t>: Нет регулярных повторяющихся паттернов</a:t>
            </a:r>
          </a:p>
          <a:p>
            <a:pPr marL="0" indent="0">
              <a:buNone/>
            </a:pPr>
            <a:r>
              <a:rPr lang="ru-RU" sz="1600" b="1" dirty="0"/>
              <a:t>2. Как проводить визуальный анализ</a:t>
            </a:r>
            <a:endParaRPr lang="ru-RU" sz="1600" dirty="0"/>
          </a:p>
          <a:p>
            <a:r>
              <a:rPr lang="ru-RU" sz="1600" dirty="0"/>
              <a:t>Построить линейный график временного ряда</a:t>
            </a:r>
          </a:p>
          <a:p>
            <a:r>
              <a:rPr lang="ru-RU" sz="1600" dirty="0"/>
              <a:t>Добавить скользящее среднее (</a:t>
            </a:r>
            <a:r>
              <a:rPr lang="ru-RU" sz="1600" dirty="0" err="1"/>
              <a:t>moving</a:t>
            </a:r>
            <a:r>
              <a:rPr lang="ru-RU" sz="1600" dirty="0"/>
              <a:t> </a:t>
            </a:r>
            <a:r>
              <a:rPr lang="ru-RU" sz="1600" dirty="0" err="1"/>
              <a:t>average</a:t>
            </a:r>
            <a:r>
              <a:rPr lang="ru-RU" sz="1600" dirty="0"/>
              <a:t>) для выявления тренда</a:t>
            </a:r>
          </a:p>
          <a:p>
            <a:r>
              <a:rPr lang="ru-RU" sz="1600" dirty="0"/>
              <a:t>Добавить скользящее стандартное отклонение для оценки дисперсии</a:t>
            </a:r>
          </a:p>
          <a:p>
            <a:pPr marL="0" indent="0">
              <a:buNone/>
            </a:pPr>
            <a:r>
              <a:rPr lang="ru-RU" sz="1600" b="1" dirty="0"/>
              <a:t>3. Примеры визуальной оценки</a:t>
            </a:r>
            <a:endParaRPr lang="ru-RU" sz="1600" dirty="0"/>
          </a:p>
          <a:p>
            <a:r>
              <a:rPr lang="ru-RU" sz="1600" b="1" dirty="0"/>
              <a:t>Стационарный ряд</a:t>
            </a:r>
            <a:r>
              <a:rPr lang="ru-RU" sz="1600" dirty="0"/>
              <a:t>:</a:t>
            </a:r>
          </a:p>
          <a:p>
            <a:pPr lvl="1"/>
            <a:r>
              <a:rPr lang="ru-RU" sz="1400" dirty="0"/>
              <a:t>График колеблется вокруг постоянного среднего</a:t>
            </a:r>
          </a:p>
          <a:p>
            <a:pPr lvl="1"/>
            <a:r>
              <a:rPr lang="ru-RU" sz="1400" dirty="0"/>
              <a:t>Скользящие статистики (среднее и дисперсия) практически не изменяются</a:t>
            </a:r>
          </a:p>
          <a:p>
            <a:r>
              <a:rPr lang="ru-RU" sz="1600" b="1" dirty="0"/>
              <a:t>Нестационарный ряд</a:t>
            </a:r>
            <a:r>
              <a:rPr lang="ru-RU" sz="1600" dirty="0"/>
              <a:t>:</a:t>
            </a:r>
          </a:p>
          <a:p>
            <a:pPr lvl="1"/>
            <a:r>
              <a:rPr lang="ru-RU" sz="1400" dirty="0"/>
              <a:t>Виден явный возрастающий/убывающий тренд</a:t>
            </a:r>
          </a:p>
          <a:p>
            <a:pPr lvl="1"/>
            <a:r>
              <a:rPr lang="ru-RU" sz="1400" dirty="0"/>
              <a:t>Наблюдается изменение размаха колебаний</a:t>
            </a:r>
          </a:p>
          <a:p>
            <a:pPr lvl="1"/>
            <a:r>
              <a:rPr lang="ru-RU" sz="1400" dirty="0"/>
              <a:t>Присутствуют сезонные пики</a:t>
            </a:r>
          </a:p>
          <a:p>
            <a:endParaRPr lang="ru-RU" sz="900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7544" y="51471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Визуальная проверка на стационарность ВР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9532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Этапы обработки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данных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b="1" dirty="0"/>
              <a:t>1. Подготовка данных</a:t>
            </a:r>
            <a:endParaRPr lang="ru-RU" dirty="0"/>
          </a:p>
          <a:p>
            <a:r>
              <a:rPr lang="ru-RU" dirty="0" smtClean="0"/>
              <a:t>Загрузка логов.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2. Построение модели прогнозирования</a:t>
            </a:r>
            <a:endParaRPr lang="ru-RU" dirty="0"/>
          </a:p>
          <a:p>
            <a:r>
              <a:rPr lang="ru-RU" dirty="0"/>
              <a:t>Разделение данных на обучающую и тестовую выборки.</a:t>
            </a:r>
          </a:p>
          <a:p>
            <a:r>
              <a:rPr lang="ru-RU" dirty="0"/>
              <a:t>Выбор модели (ARIMA, LSTM и др.).</a:t>
            </a:r>
          </a:p>
          <a:p>
            <a:r>
              <a:rPr lang="ru-RU" dirty="0"/>
              <a:t>Обучение модели и оценка её точности (MAE, RMSE).</a:t>
            </a:r>
          </a:p>
          <a:p>
            <a:pPr marL="0" indent="0">
              <a:buNone/>
            </a:pPr>
            <a:r>
              <a:rPr lang="ru-RU" b="1" dirty="0"/>
              <a:t>3. </a:t>
            </a:r>
            <a:r>
              <a:rPr lang="ru-RU" b="1" dirty="0" err="1"/>
              <a:t>Детекция</a:t>
            </a:r>
            <a:r>
              <a:rPr lang="ru-RU" b="1" dirty="0"/>
              <a:t> аномалий</a:t>
            </a:r>
            <a:endParaRPr lang="ru-RU" dirty="0"/>
          </a:p>
          <a:p>
            <a:r>
              <a:rPr lang="ru-RU" dirty="0"/>
              <a:t>Сравнение прогноза с реальными значениями.</a:t>
            </a:r>
          </a:p>
          <a:p>
            <a:r>
              <a:rPr lang="ru-RU" dirty="0"/>
              <a:t>Выделение аномалий (статистические методы, ML-алгоритмы).</a:t>
            </a:r>
          </a:p>
          <a:p>
            <a:r>
              <a:rPr lang="ru-RU" dirty="0"/>
              <a:t>Визуализация аномальных точек.</a:t>
            </a:r>
          </a:p>
          <a:p>
            <a:pPr marL="0" indent="0">
              <a:buNone/>
            </a:pPr>
            <a:r>
              <a:rPr lang="ru-RU" b="1" dirty="0"/>
              <a:t>4. Анализ результатов</a:t>
            </a:r>
            <a:endParaRPr lang="ru-RU" dirty="0"/>
          </a:p>
          <a:p>
            <a:r>
              <a:rPr lang="ru-RU" dirty="0"/>
              <a:t>Интерпретация найденных аномалий.</a:t>
            </a:r>
          </a:p>
          <a:p>
            <a:r>
              <a:rPr lang="ru-RU" dirty="0"/>
              <a:t>Проверка на реальных сбоях системы.</a:t>
            </a:r>
          </a:p>
          <a:p>
            <a:r>
              <a:rPr lang="ru-RU" dirty="0"/>
              <a:t>Оптимизация модели (при необходимости).</a:t>
            </a:r>
          </a:p>
        </p:txBody>
      </p:sp>
    </p:spTree>
    <p:extLst>
      <p:ext uri="{BB962C8B-B14F-4D97-AF65-F5344CB8AC3E}">
        <p14:creationId xmlns:p14="http://schemas.microsoft.com/office/powerpoint/2010/main" val="3003941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Результаты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Графики исходного временного ряда и прогноза.</a:t>
            </a:r>
          </a:p>
          <a:p>
            <a:r>
              <a:rPr lang="ru-RU" dirty="0"/>
              <a:t>Выявленные аномалии (например, резкие скачки времени синхронизации).</a:t>
            </a:r>
          </a:p>
          <a:p>
            <a:r>
              <a:rPr lang="ru-RU" dirty="0"/>
              <a:t>Оценка точности модели (метрики: MAE, RMSE).</a:t>
            </a:r>
          </a:p>
          <a:p>
            <a:pPr marL="13716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3652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Интерпретация метрик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классификации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u-RU" b="1" dirty="0"/>
              <a:t>MAE (</a:t>
            </a:r>
            <a:r>
              <a:rPr lang="ru-RU" b="1" dirty="0" err="1"/>
              <a:t>Mean</a:t>
            </a:r>
            <a:r>
              <a:rPr lang="ru-RU" b="1" dirty="0"/>
              <a:t> </a:t>
            </a:r>
            <a:r>
              <a:rPr lang="ru-RU" b="1" dirty="0" err="1"/>
              <a:t>Absolute</a:t>
            </a:r>
            <a:r>
              <a:rPr lang="ru-RU" b="1" dirty="0"/>
              <a:t> </a:t>
            </a:r>
            <a:r>
              <a:rPr lang="ru-RU" b="1" dirty="0" err="1"/>
              <a:t>Error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Показывает среднюю абсолютную ошибку прогноза.</a:t>
            </a:r>
          </a:p>
          <a:p>
            <a:r>
              <a:rPr lang="ru-RU" dirty="0"/>
              <a:t>Чем меньше MAE, тем точнее модель.</a:t>
            </a:r>
          </a:p>
          <a:p>
            <a:r>
              <a:rPr lang="ru-RU" dirty="0"/>
              <a:t>Устойчив к выбросам, но не штрафует крупные ошибки строго.</a:t>
            </a:r>
          </a:p>
          <a:p>
            <a:pPr marL="0" indent="0">
              <a:buNone/>
            </a:pPr>
            <a:r>
              <a:rPr lang="ru-RU" b="1" dirty="0"/>
              <a:t>RMSE (</a:t>
            </a:r>
            <a:r>
              <a:rPr lang="ru-RU" b="1" dirty="0" err="1"/>
              <a:t>Root</a:t>
            </a:r>
            <a:r>
              <a:rPr lang="ru-RU" b="1" dirty="0"/>
              <a:t> </a:t>
            </a:r>
            <a:r>
              <a:rPr lang="ru-RU" b="1" dirty="0" err="1"/>
              <a:t>Mean</a:t>
            </a:r>
            <a:r>
              <a:rPr lang="ru-RU" b="1" dirty="0"/>
              <a:t> </a:t>
            </a:r>
            <a:r>
              <a:rPr lang="ru-RU" b="1" dirty="0" err="1"/>
              <a:t>Squared</a:t>
            </a:r>
            <a:r>
              <a:rPr lang="ru-RU" b="1" dirty="0"/>
              <a:t> </a:t>
            </a:r>
            <a:r>
              <a:rPr lang="ru-RU" b="1" dirty="0" err="1"/>
              <a:t>Error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Учитывает квадраты ошибок, поэтому </a:t>
            </a:r>
            <a:r>
              <a:rPr lang="ru-RU" dirty="0" smtClean="0"/>
              <a:t>лучше фиксирует большие </a:t>
            </a:r>
            <a:r>
              <a:rPr lang="ru-RU" dirty="0"/>
              <a:t>отклонения.</a:t>
            </a:r>
          </a:p>
          <a:p>
            <a:r>
              <a:rPr lang="ru-RU" dirty="0"/>
              <a:t>Полезен, если критичны именно крупные аномалии.</a:t>
            </a:r>
          </a:p>
          <a:p>
            <a:r>
              <a:rPr lang="ru-RU" dirty="0"/>
              <a:t>Всегда выше или равен MAE.</a:t>
            </a:r>
          </a:p>
          <a:p>
            <a:pPr marL="0" indent="0">
              <a:buNone/>
            </a:pPr>
            <a:r>
              <a:rPr lang="ru-RU" b="1" dirty="0"/>
              <a:t>MAPE (</a:t>
            </a:r>
            <a:r>
              <a:rPr lang="ru-RU" b="1" dirty="0" err="1"/>
              <a:t>Mean</a:t>
            </a:r>
            <a:r>
              <a:rPr lang="ru-RU" b="1" dirty="0"/>
              <a:t> </a:t>
            </a:r>
            <a:r>
              <a:rPr lang="ru-RU" b="1" dirty="0" err="1"/>
              <a:t>Absolute</a:t>
            </a:r>
            <a:r>
              <a:rPr lang="ru-RU" b="1" dirty="0"/>
              <a:t> </a:t>
            </a:r>
            <a:r>
              <a:rPr lang="ru-RU" b="1" dirty="0" err="1"/>
              <a:t>Percentage</a:t>
            </a:r>
            <a:r>
              <a:rPr lang="ru-RU" b="1" dirty="0"/>
              <a:t> </a:t>
            </a:r>
            <a:r>
              <a:rPr lang="ru-RU" b="1" dirty="0" err="1"/>
              <a:t>Error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Ошибка в процентах от фактических значений.</a:t>
            </a:r>
          </a:p>
          <a:p>
            <a:r>
              <a:rPr lang="ru-RU" dirty="0"/>
              <a:t>Удобен для сравнения моделей на разных масштабах данных.</a:t>
            </a:r>
          </a:p>
          <a:p>
            <a:r>
              <a:rPr lang="ru-RU" dirty="0"/>
              <a:t>Не работает при нулевых или близких к нулю значениях.</a:t>
            </a:r>
          </a:p>
          <a:p>
            <a:pPr marL="0" indent="0">
              <a:buNone/>
            </a:pPr>
            <a:r>
              <a:rPr lang="ru-RU" b="1" dirty="0"/>
              <a:t>R² (Коэффициент детерминации)</a:t>
            </a:r>
            <a:endParaRPr lang="ru-RU" dirty="0"/>
          </a:p>
          <a:p>
            <a:r>
              <a:rPr lang="ru-RU" dirty="0"/>
              <a:t>Показывает, насколько модель объясняет дисперсию данных.</a:t>
            </a:r>
          </a:p>
          <a:p>
            <a:r>
              <a:rPr lang="ru-RU" dirty="0"/>
              <a:t>R² = 1 — идеальная модель, R² ≤ 0 — хуже константного прогноза.</a:t>
            </a:r>
          </a:p>
          <a:p>
            <a:r>
              <a:rPr lang="ru-RU" dirty="0"/>
              <a:t>Менее информативен при прогнозировании аномалий, если они редки.</a:t>
            </a:r>
          </a:p>
        </p:txBody>
      </p:sp>
    </p:spTree>
    <p:extLst>
      <p:ext uri="{BB962C8B-B14F-4D97-AF65-F5344CB8AC3E}">
        <p14:creationId xmlns:p14="http://schemas.microsoft.com/office/powerpoint/2010/main" val="943182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0399" y="545634"/>
            <a:ext cx="8856984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Эксперимент 1:</a:t>
            </a:r>
            <a:endParaRPr lang="ru-RU" sz="1600" dirty="0"/>
          </a:p>
          <a:p>
            <a:pPr lvl="0"/>
            <a:r>
              <a:rPr lang="ru-RU" sz="1600" dirty="0"/>
              <a:t>Синтетические данные (случайный процесс с накоплением)</a:t>
            </a:r>
          </a:p>
          <a:p>
            <a:pPr lvl="0"/>
            <a:r>
              <a:rPr lang="ru-RU" sz="1600" dirty="0"/>
              <a:t>Одно разбиение на </a:t>
            </a:r>
            <a:r>
              <a:rPr lang="ru-RU" sz="1600" dirty="0" err="1"/>
              <a:t>train</a:t>
            </a:r>
            <a:r>
              <a:rPr lang="ru-RU" sz="1600" dirty="0"/>
              <a:t>/</a:t>
            </a:r>
            <a:r>
              <a:rPr lang="ru-RU" sz="1600" dirty="0" err="1"/>
              <a:t>test</a:t>
            </a:r>
            <a:r>
              <a:rPr lang="ru-RU" sz="1600" dirty="0"/>
              <a:t> (до конца 2022 года и 2023 год)</a:t>
            </a:r>
          </a:p>
          <a:p>
            <a:r>
              <a:rPr lang="ru-RU" sz="1600" b="1" dirty="0"/>
              <a:t>Эксперимент 2:</a:t>
            </a:r>
            <a:endParaRPr lang="ru-RU" sz="1600" dirty="0"/>
          </a:p>
          <a:p>
            <a:pPr lvl="0"/>
            <a:r>
              <a:rPr lang="ru-RU" sz="1600" dirty="0"/>
              <a:t>Данные из эксперимента </a:t>
            </a:r>
            <a:r>
              <a:rPr lang="ru-RU" sz="1600" dirty="0" smtClean="0"/>
              <a:t>2</a:t>
            </a:r>
            <a:endParaRPr lang="ru-RU" sz="1600" dirty="0"/>
          </a:p>
          <a:p>
            <a:pPr lvl="0"/>
            <a:r>
              <a:rPr lang="ru-RU" sz="1600" dirty="0" smtClean="0"/>
              <a:t>Кросс-</a:t>
            </a:r>
            <a:r>
              <a:rPr lang="ru-RU" sz="1600" dirty="0" err="1" smtClean="0"/>
              <a:t>валидация</a:t>
            </a:r>
            <a:r>
              <a:rPr lang="ru-RU" sz="1600" dirty="0" smtClean="0"/>
              <a:t> </a:t>
            </a:r>
            <a:r>
              <a:rPr lang="ru-RU" sz="1600" dirty="0"/>
              <a:t>временного ряда (5 </a:t>
            </a:r>
            <a:r>
              <a:rPr lang="ru-RU" sz="1600" dirty="0" err="1"/>
              <a:t>фолдов</a:t>
            </a:r>
            <a:r>
              <a:rPr lang="ru-RU" sz="1600" dirty="0"/>
              <a:t>)</a:t>
            </a:r>
          </a:p>
          <a:p>
            <a:r>
              <a:rPr lang="ru-RU" sz="1600" b="1" dirty="0"/>
              <a:t>Эксперимент 3:</a:t>
            </a:r>
            <a:endParaRPr lang="ru-RU" sz="1600" dirty="0"/>
          </a:p>
          <a:p>
            <a:pPr lvl="0"/>
            <a:r>
              <a:rPr lang="ru-RU" sz="1600" dirty="0"/>
              <a:t>Реальные данные (цена </a:t>
            </a:r>
            <a:r>
              <a:rPr lang="en-US" sz="1600" dirty="0" smtClean="0"/>
              <a:t>???</a:t>
            </a:r>
            <a:r>
              <a:rPr lang="ru-RU" sz="1600" dirty="0" smtClean="0"/>
              <a:t>)</a:t>
            </a:r>
            <a:endParaRPr lang="ru-RU" sz="1600" dirty="0"/>
          </a:p>
          <a:p>
            <a:pPr lvl="0"/>
            <a:r>
              <a:rPr lang="ru-RU" sz="1600" dirty="0"/>
              <a:t>Одно разбиение (до 01.01.2021 и после)</a:t>
            </a:r>
          </a:p>
          <a:p>
            <a:r>
              <a:rPr lang="ru-RU" sz="1600" b="1" dirty="0"/>
              <a:t>Эксперимент 4:</a:t>
            </a:r>
            <a:endParaRPr lang="ru-RU" sz="1600" dirty="0"/>
          </a:p>
          <a:p>
            <a:pPr lvl="0"/>
            <a:r>
              <a:rPr lang="ru-RU" sz="1600" dirty="0"/>
              <a:t>Данные </a:t>
            </a:r>
            <a:r>
              <a:rPr lang="ru-RU" sz="1600" dirty="0" smtClean="0"/>
              <a:t>из эксперимента 3</a:t>
            </a:r>
            <a:endParaRPr lang="ru-RU" sz="1600" dirty="0"/>
          </a:p>
          <a:p>
            <a:pPr lvl="0"/>
            <a:r>
              <a:rPr lang="ru-RU" sz="1600" dirty="0"/>
              <a:t>Кросс-</a:t>
            </a:r>
            <a:r>
              <a:rPr lang="ru-RU" sz="1600" dirty="0" err="1"/>
              <a:t>валидация</a:t>
            </a:r>
            <a:r>
              <a:rPr lang="ru-RU" sz="1600" dirty="0"/>
              <a:t> (5 </a:t>
            </a:r>
            <a:r>
              <a:rPr lang="ru-RU" sz="1600" dirty="0" err="1"/>
              <a:t>фолдов</a:t>
            </a:r>
            <a:r>
              <a:rPr lang="ru-RU" sz="1600" dirty="0"/>
              <a:t>)</a:t>
            </a:r>
          </a:p>
          <a:p>
            <a:r>
              <a:rPr lang="ru-RU" sz="1600" b="1" dirty="0"/>
              <a:t>Эксперимент 5:</a:t>
            </a:r>
            <a:endParaRPr lang="ru-RU" sz="1600" dirty="0"/>
          </a:p>
          <a:p>
            <a:pPr lvl="0"/>
            <a:r>
              <a:rPr lang="ru-RU" sz="1600" dirty="0" err="1" smtClean="0"/>
              <a:t>Логи</a:t>
            </a:r>
            <a:r>
              <a:rPr lang="ru-RU" sz="1600" dirty="0" smtClean="0"/>
              <a:t> синхронизации данных</a:t>
            </a:r>
            <a:endParaRPr lang="ru-RU" sz="1600" dirty="0"/>
          </a:p>
          <a:p>
            <a:pPr lvl="0"/>
            <a:r>
              <a:rPr lang="ru-RU" sz="1600" dirty="0"/>
              <a:t>Одно разбиение (до 01.03.2025 и после)</a:t>
            </a:r>
          </a:p>
          <a:p>
            <a:r>
              <a:rPr lang="ru-RU" sz="1600" b="1" dirty="0"/>
              <a:t>Эксперимент 6:</a:t>
            </a:r>
            <a:endParaRPr lang="ru-RU" sz="1600" dirty="0"/>
          </a:p>
          <a:p>
            <a:pPr lvl="0"/>
            <a:r>
              <a:rPr lang="ru-RU" sz="1600" dirty="0"/>
              <a:t>Данные из эксперимента </a:t>
            </a:r>
            <a:r>
              <a:rPr lang="ru-RU" sz="1600" dirty="0" smtClean="0"/>
              <a:t>5</a:t>
            </a:r>
            <a:endParaRPr lang="ru-RU" sz="1600" dirty="0"/>
          </a:p>
          <a:p>
            <a:pPr lvl="0"/>
            <a:r>
              <a:rPr lang="ru-RU" sz="1600" dirty="0" smtClean="0"/>
              <a:t>Кросс-</a:t>
            </a:r>
            <a:r>
              <a:rPr lang="ru-RU" sz="1600" dirty="0" err="1" smtClean="0"/>
              <a:t>валидация</a:t>
            </a:r>
            <a:r>
              <a:rPr lang="ru-RU" sz="1600" dirty="0" smtClean="0"/>
              <a:t> </a:t>
            </a:r>
            <a:r>
              <a:rPr lang="ru-RU" sz="1600" dirty="0"/>
              <a:t>(5 </a:t>
            </a:r>
            <a:r>
              <a:rPr lang="ru-RU" sz="1600" dirty="0" err="1"/>
              <a:t>фолдов</a:t>
            </a:r>
            <a:r>
              <a:rPr lang="ru-RU" sz="1600" dirty="0"/>
              <a:t>)</a:t>
            </a: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23528" y="-92546"/>
            <a:ext cx="8229600" cy="857250"/>
          </a:xfrm>
        </p:spPr>
        <p:txBody>
          <a:bodyPr>
            <a:normAutofit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Эксперименты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039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3545"/>
            <a:ext cx="7488832" cy="4826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9531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39502"/>
            <a:ext cx="7094258" cy="418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0468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475656" y="34677"/>
            <a:ext cx="5940425" cy="329311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1475656" y="3507854"/>
            <a:ext cx="5940425" cy="112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34157" y="0"/>
            <a:ext cx="5940425" cy="3318510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1634157" y="3579861"/>
            <a:ext cx="5940425" cy="106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917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654720" y="0"/>
            <a:ext cx="5940425" cy="330581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1654720" y="3579862"/>
            <a:ext cx="5940425" cy="108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018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74725" y="0"/>
            <a:ext cx="5940425" cy="3302635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1574725" y="3507854"/>
            <a:ext cx="5940425" cy="114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27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601787" y="15627"/>
            <a:ext cx="5940425" cy="330581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1565969" y="3507854"/>
            <a:ext cx="5940425" cy="114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41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65969" y="123478"/>
            <a:ext cx="5940425" cy="3300730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1475656" y="3424208"/>
            <a:ext cx="5940425" cy="117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95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87673" y="267493"/>
            <a:ext cx="5940425" cy="3300095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1597967" y="3651870"/>
            <a:ext cx="5940425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53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97966" y="195486"/>
            <a:ext cx="5940425" cy="329692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1547664" y="3723878"/>
            <a:ext cx="5940425" cy="104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176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47664" y="195486"/>
            <a:ext cx="5940425" cy="333121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1601787" y="3651870"/>
            <a:ext cx="5940425" cy="102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05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01787" y="319276"/>
            <a:ext cx="5940425" cy="3301365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1549176" y="3723878"/>
            <a:ext cx="5940425" cy="119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152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49176" y="123478"/>
            <a:ext cx="5940425" cy="3305175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1549175" y="3579862"/>
            <a:ext cx="5940425" cy="123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39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01786" y="195486"/>
            <a:ext cx="5940425" cy="3275965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1601787" y="3579862"/>
            <a:ext cx="5940425" cy="115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003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70037" y="411510"/>
            <a:ext cx="5940425" cy="2818765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1633537" y="3363838"/>
            <a:ext cx="58769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157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54324" y="195486"/>
            <a:ext cx="5940425" cy="3255645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1454323" y="3579862"/>
            <a:ext cx="5940425" cy="107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04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47664" y="195486"/>
            <a:ext cx="5940425" cy="312420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1601786" y="3507854"/>
            <a:ext cx="5940425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04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01787" y="267494"/>
            <a:ext cx="5940425" cy="308737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1835696" y="3383438"/>
            <a:ext cx="58197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940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31640" y="328453"/>
            <a:ext cx="5940425" cy="3054985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1509440" y="3579862"/>
            <a:ext cx="576262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811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" t="4110" r="1884"/>
          <a:stretch/>
        </p:blipFill>
        <p:spPr bwMode="auto">
          <a:xfrm>
            <a:off x="0" y="828675"/>
            <a:ext cx="9144000" cy="35905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93190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1907704" y="195486"/>
            <a:ext cx="5544615" cy="3185647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1709798" y="3507854"/>
            <a:ext cx="5940425" cy="150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0610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685</Words>
  <Application>Microsoft Office PowerPoint</Application>
  <PresentationFormat>Экран (16:9)</PresentationFormat>
  <Paragraphs>136</Paragraphs>
  <Slides>32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3" baseType="lpstr">
      <vt:lpstr>Тема Office</vt:lpstr>
      <vt:lpstr>Обработка временных рядов на примере поиска аномалий в синхронизации конфигураций университета</vt:lpstr>
      <vt:lpstr>Цель работы</vt:lpstr>
      <vt:lpstr>Используемые инструменты и данные</vt:lpstr>
      <vt:lpstr>Что такое временной ряд?</vt:lpstr>
      <vt:lpstr>Компоненты временного ряда</vt:lpstr>
      <vt:lpstr>Стационарность временного ряда</vt:lpstr>
      <vt:lpstr>Визуальная проверка на стационарность ВР</vt:lpstr>
      <vt:lpstr>Этапы обработки данных</vt:lpstr>
      <vt:lpstr>Результаты</vt:lpstr>
      <vt:lpstr>Интерпретация метрик классификации</vt:lpstr>
      <vt:lpstr>Эксперименты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Обработка естественного языка (NLP) на примере классификации отзывов клиники</dc:title>
  <dc:creator>Евгений МС.</dc:creator>
  <cp:lastModifiedBy>Евгений МС.</cp:lastModifiedBy>
  <cp:revision>40</cp:revision>
  <dcterms:created xsi:type="dcterms:W3CDTF">2025-08-05T18:09:15Z</dcterms:created>
  <dcterms:modified xsi:type="dcterms:W3CDTF">2025-08-07T17:23:45Z</dcterms:modified>
</cp:coreProperties>
</file>